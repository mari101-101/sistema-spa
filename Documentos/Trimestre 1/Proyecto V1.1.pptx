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0" r:id="rId14"/>
    <p:sldId id="271" r:id="rId15"/>
    <p:sldId id="272" r:id="rId16"/>
    <p:sldId id="273" r:id="rId17"/>
    <p:sldId id="274" r:id="rId18"/>
  </p:sldIdLst>
  <p:sldSz cx="12192000" cy="6858000"/>
  <p:notesSz cx="6858000" cy="9144000"/>
  <p:embeddedFontLst>
    <p:embeddedFont>
      <p:font typeface="Calibri" panose="020F0502020204030204" pitchFamily="34" charset="0"/>
      <p:regular r:id="rId20"/>
      <p:bold r:id="rId21"/>
      <p:italic r:id="rId22"/>
      <p:boldItalic r:id="rId23"/>
    </p:embeddedFont>
    <p:embeddedFont>
      <p:font typeface="Comic Sans MS" panose="030F0702030302020204" pitchFamily="66" charset="0"/>
      <p:regular r:id="rId24"/>
      <p:bold r:id="rId25"/>
      <p:italic r:id="rId26"/>
      <p:boldItalic r:id="rId27"/>
    </p:embeddedFont>
    <p:embeddedFont>
      <p:font typeface="Work Sans Medium"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95">
          <p15:clr>
            <a:srgbClr val="A4A3A4"/>
          </p15:clr>
        </p15:guide>
        <p15:guide id="2" pos="3840">
          <p15:clr>
            <a:srgbClr val="A4A3A4"/>
          </p15:clr>
        </p15:guide>
        <p15:guide id="3" orient="horz" pos="187">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ginFLL6EjVu6h7Hbh/xMDqKcFCa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7BC4DA8-83AE-4B31-9FE9-980BD2D22D64}">
  <a:tblStyle styleId="{37BC4DA8-83AE-4B31-9FE9-980BD2D22D64}" styleName="Table_0">
    <a:wholeTbl>
      <a:tcTxStyle b="off" i="off">
        <a:font>
          <a:latin typeface="Calibri"/>
          <a:ea typeface="Calibri"/>
          <a:cs typeface="Calibri"/>
        </a:font>
        <a:schemeClr val="dk1"/>
      </a:tcTxStyle>
      <a:tcStyle>
        <a:tcBdr>
          <a:left>
            <a:ln w="9525" cap="flat" cmpd="sng">
              <a:solidFill>
                <a:schemeClr val="accent6"/>
              </a:solidFill>
              <a:prstDash val="solid"/>
              <a:round/>
              <a:headEnd type="none" w="sm" len="sm"/>
              <a:tailEnd type="none" w="sm" len="sm"/>
            </a:ln>
          </a:left>
          <a:right>
            <a:ln w="9525" cap="flat" cmpd="sng">
              <a:solidFill>
                <a:schemeClr val="accent6"/>
              </a:solidFill>
              <a:prstDash val="solid"/>
              <a:round/>
              <a:headEnd type="none" w="sm" len="sm"/>
              <a:tailEnd type="none" w="sm" len="sm"/>
            </a:ln>
          </a:right>
          <a:top>
            <a:ln w="9525" cap="flat" cmpd="sng">
              <a:solidFill>
                <a:schemeClr val="accent6"/>
              </a:solidFill>
              <a:prstDash val="solid"/>
              <a:round/>
              <a:headEnd type="none" w="sm" len="sm"/>
              <a:tailEnd type="none" w="sm" len="sm"/>
            </a:ln>
          </a:top>
          <a:bottom>
            <a:ln w="9525" cap="flat" cmpd="sng">
              <a:solidFill>
                <a:schemeClr val="accent6"/>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6"/>
              </a:solidFill>
              <a:prstDash val="solid"/>
              <a:round/>
              <a:headEnd type="none" w="sm" len="sm"/>
              <a:tailEnd type="none" w="sm" len="sm"/>
            </a:ln>
          </a:top>
          <a:bottom>
            <a:ln w="9525" cap="flat" cmpd="sng">
              <a:solidFill>
                <a:schemeClr val="accent6"/>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6"/>
              </a:solidFill>
              <a:prstDash val="solid"/>
              <a:round/>
              <a:headEnd type="none" w="sm" len="sm"/>
              <a:tailEnd type="none" w="sm" len="sm"/>
            </a:ln>
          </a:left>
          <a:right>
            <a:ln w="9525" cap="flat" cmpd="sng">
              <a:solidFill>
                <a:schemeClr val="accent6"/>
              </a:solidFill>
              <a:prstDash val="solid"/>
              <a:round/>
              <a:headEnd type="none" w="sm" len="sm"/>
              <a:tailEnd type="none" w="sm" len="sm"/>
            </a:ln>
          </a:right>
        </a:tcBdr>
      </a:tcStyle>
    </a:band1V>
    <a:band2V>
      <a:tcTxStyle/>
      <a:tcStyle>
        <a:tcBdr>
          <a:left>
            <a:ln w="9525" cap="flat" cmpd="sng">
              <a:solidFill>
                <a:schemeClr val="accent6"/>
              </a:solidFill>
              <a:prstDash val="solid"/>
              <a:round/>
              <a:headEnd type="none" w="sm" len="sm"/>
              <a:tailEnd type="none" w="sm" len="sm"/>
            </a:ln>
          </a:left>
          <a:right>
            <a:ln w="9525" cap="flat" cmpd="sng">
              <a:solidFill>
                <a:schemeClr val="accent6"/>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6"/>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Calibri"/>
          <a:ea typeface="Calibri"/>
          <a:cs typeface="Calibri"/>
        </a:font>
        <a:schemeClr val="lt1"/>
      </a:tcTxStyle>
      <a:tcStyle>
        <a:tcBdr/>
        <a:fill>
          <a:solidFill>
            <a:schemeClr val="accent6"/>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301" y="365"/>
      </p:cViewPr>
      <p:guideLst>
        <p:guide orient="horz" pos="595"/>
        <p:guide pos="3840"/>
        <p:guide orient="horz" pos="18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b0cc1124e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b0cc1124e2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g3b0cc1124e2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91c78eebce_0_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g391c78eebce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91c78eebce_0_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g391c78eebce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91c78eebce_0_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g391c78eebce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5"/>
        <p:cNvGrpSpPr/>
        <p:nvPr/>
      </p:nvGrpSpPr>
      <p:grpSpPr>
        <a:xfrm>
          <a:off x="0" y="0"/>
          <a:ext cx="0" cy="0"/>
          <a:chOff x="0" y="0"/>
          <a:chExt cx="0" cy="0"/>
        </a:xfrm>
      </p:grpSpPr>
      <p:sp>
        <p:nvSpPr>
          <p:cNvPr id="16" name="Google Shape;16;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9"/>
        <p:cNvGrpSpPr/>
        <p:nvPr/>
      </p:nvGrpSpPr>
      <p:grpSpPr>
        <a:xfrm>
          <a:off x="0" y="0"/>
          <a:ext cx="0" cy="0"/>
          <a:chOff x="0" y="0"/>
          <a:chExt cx="0" cy="0"/>
        </a:xfrm>
      </p:grpSpPr>
      <p:sp>
        <p:nvSpPr>
          <p:cNvPr id="20" name="Google Shape;20;p1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5"/>
        <p:cNvGrpSpPr/>
        <p:nvPr/>
      </p:nvGrpSpPr>
      <p:grpSpPr>
        <a:xfrm>
          <a:off x="0" y="0"/>
          <a:ext cx="0" cy="0"/>
          <a:chOff x="0" y="0"/>
          <a:chExt cx="0" cy="0"/>
        </a:xfrm>
      </p:grpSpPr>
      <p:sp>
        <p:nvSpPr>
          <p:cNvPr id="26" name="Google Shape;26;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1"/>
        <p:cNvGrpSpPr/>
        <p:nvPr/>
      </p:nvGrpSpPr>
      <p:grpSpPr>
        <a:xfrm>
          <a:off x="0" y="0"/>
          <a:ext cx="0" cy="0"/>
          <a:chOff x="0" y="0"/>
          <a:chExt cx="0" cy="0"/>
        </a:xfrm>
      </p:grpSpPr>
      <p:sp>
        <p:nvSpPr>
          <p:cNvPr id="32" name="Google Shape;32;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4"/>
        <p:cNvGrpSpPr/>
        <p:nvPr/>
      </p:nvGrpSpPr>
      <p:grpSpPr>
        <a:xfrm>
          <a:off x="0" y="0"/>
          <a:ext cx="0" cy="0"/>
          <a:chOff x="0" y="0"/>
          <a:chExt cx="0" cy="0"/>
        </a:xfrm>
      </p:grpSpPr>
      <p:sp>
        <p:nvSpPr>
          <p:cNvPr id="45" name="Google Shape;45;p2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2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2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2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2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3"/>
        <p:cNvGrpSpPr/>
        <p:nvPr/>
      </p:nvGrpSpPr>
      <p:grpSpPr>
        <a:xfrm>
          <a:off x="0" y="0"/>
          <a:ext cx="0" cy="0"/>
          <a:chOff x="0" y="0"/>
          <a:chExt cx="0" cy="0"/>
        </a:xfrm>
      </p:grpSpPr>
      <p:sp>
        <p:nvSpPr>
          <p:cNvPr id="54" name="Google Shape;54;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5"/>
          <p:cNvSpPr>
            <a:spLocks noGrp="1"/>
          </p:cNvSpPr>
          <p:nvPr>
            <p:ph type="pic" idx="2"/>
          </p:nvPr>
        </p:nvSpPr>
        <p:spPr>
          <a:xfrm>
            <a:off x="5183188" y="987425"/>
            <a:ext cx="6172200" cy="4873625"/>
          </a:xfrm>
          <a:prstGeom prst="rect">
            <a:avLst/>
          </a:prstGeom>
          <a:noFill/>
          <a:ln>
            <a:noFill/>
          </a:ln>
        </p:spPr>
      </p:sp>
      <p:sp>
        <p:nvSpPr>
          <p:cNvPr id="68" name="Google Shape;68;p2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2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blipFill>
          <a:blip r:embed="rId2">
            <a:alphaModFix/>
          </a:blip>
          <a:stretch>
            <a:fillRect/>
          </a:stretch>
        </a:blipFill>
        <a:effectLst/>
      </p:bgPr>
    </p:bg>
    <p:spTree>
      <p:nvGrpSpPr>
        <p:cNvPr id="1" name="Shape 84"/>
        <p:cNvGrpSpPr/>
        <p:nvPr/>
      </p:nvGrpSpPr>
      <p:grpSpPr>
        <a:xfrm>
          <a:off x="0" y="0"/>
          <a:ext cx="0" cy="0"/>
          <a:chOff x="0" y="0"/>
          <a:chExt cx="0" cy="0"/>
        </a:xfrm>
      </p:grpSpPr>
      <p:sp>
        <p:nvSpPr>
          <p:cNvPr id="85" name="Google Shape;85;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jpg"/></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2"/>
        <p:cNvGrpSpPr/>
        <p:nvPr/>
      </p:nvGrpSpPr>
      <p:grpSpPr>
        <a:xfrm>
          <a:off x="0" y="0"/>
          <a:ext cx="0" cy="0"/>
          <a:chOff x="0" y="0"/>
          <a:chExt cx="0" cy="0"/>
        </a:xfrm>
      </p:grpSpPr>
      <p:sp>
        <p:nvSpPr>
          <p:cNvPr id="93" name="Google Shape;93;p1"/>
          <p:cNvSpPr txBox="1"/>
          <p:nvPr/>
        </p:nvSpPr>
        <p:spPr>
          <a:xfrm>
            <a:off x="894578" y="1523430"/>
            <a:ext cx="8754247"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3F3F3F"/>
              </a:buClr>
              <a:buSzPts val="5400"/>
              <a:buFont typeface="Comic Sans MS"/>
              <a:buNone/>
            </a:pPr>
            <a:r>
              <a:rPr lang="en-US" sz="5400" b="1" i="0" u="none" strike="noStrike" cap="none">
                <a:solidFill>
                  <a:srgbClr val="3F3F3F"/>
                </a:solidFill>
                <a:latin typeface="Comic Sans MS"/>
                <a:ea typeface="Comic Sans MS"/>
                <a:cs typeface="Comic Sans MS"/>
                <a:sym typeface="Comic Sans MS"/>
              </a:rPr>
              <a:t>Sistema de información para spa New Boys</a:t>
            </a:r>
            <a:endParaRPr sz="5400" b="1" i="0" u="none" strike="noStrike" cap="none">
              <a:solidFill>
                <a:srgbClr val="3F3F3F"/>
              </a:solidFill>
              <a:latin typeface="Comic Sans MS"/>
              <a:ea typeface="Comic Sans MS"/>
              <a:cs typeface="Comic Sans MS"/>
              <a:sym typeface="Comic Sans MS"/>
            </a:endParaRPr>
          </a:p>
        </p:txBody>
      </p:sp>
      <p:sp>
        <p:nvSpPr>
          <p:cNvPr id="94" name="Google Shape;94;p1"/>
          <p:cNvSpPr/>
          <p:nvPr/>
        </p:nvSpPr>
        <p:spPr>
          <a:xfrm>
            <a:off x="9105900" y="4915707"/>
            <a:ext cx="1945270" cy="829034"/>
          </a:xfrm>
          <a:prstGeom prst="rect">
            <a:avLst/>
          </a:prstGeom>
          <a:noFill/>
          <a:ln w="9525" cap="flat" cmpd="sng">
            <a:solidFill>
              <a:schemeClr val="dk1"/>
            </a:solidFill>
            <a:prstDash val="lg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5" name="Google Shape;95;p1"/>
          <p:cNvSpPr txBox="1"/>
          <p:nvPr/>
        </p:nvSpPr>
        <p:spPr>
          <a:xfrm>
            <a:off x="9105900" y="4915707"/>
            <a:ext cx="194527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0" i="0" u="none" strike="noStrike" cap="none">
                <a:solidFill>
                  <a:schemeClr val="dk1"/>
                </a:solidFill>
                <a:latin typeface="Work Sans Medium"/>
                <a:ea typeface="Work Sans Medium"/>
                <a:cs typeface="Work Sans Medium"/>
                <a:sym typeface="Work Sans Medium"/>
              </a:rPr>
              <a:t>Marca externa</a:t>
            </a:r>
            <a:endParaRPr/>
          </a:p>
        </p:txBody>
      </p:sp>
      <p:sp>
        <p:nvSpPr>
          <p:cNvPr id="96" name="Google Shape;96;p1"/>
          <p:cNvSpPr txBox="1"/>
          <p:nvPr/>
        </p:nvSpPr>
        <p:spPr>
          <a:xfrm>
            <a:off x="0" y="3920293"/>
            <a:ext cx="3666502"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Times New Roman"/>
              <a:buNone/>
            </a:pPr>
            <a:r>
              <a:rPr lang="en-US" sz="1600" b="0" i="0" u="none" strike="noStrike" cap="none">
                <a:solidFill>
                  <a:srgbClr val="000000"/>
                </a:solidFill>
                <a:latin typeface="Times New Roman"/>
                <a:ea typeface="Times New Roman"/>
                <a:cs typeface="Times New Roman"/>
                <a:sym typeface="Times New Roman"/>
              </a:rPr>
              <a:t>Carol Tatiana Benavides</a:t>
            </a:r>
            <a:endParaRPr/>
          </a:p>
          <a:p>
            <a:pPr marL="0" marR="0" lvl="0" indent="0" algn="ctr" rtl="0">
              <a:lnSpc>
                <a:spcPct val="100000"/>
              </a:lnSpc>
              <a:spcBef>
                <a:spcPts val="0"/>
              </a:spcBef>
              <a:spcAft>
                <a:spcPts val="0"/>
              </a:spcAft>
              <a:buClr>
                <a:srgbClr val="000000"/>
              </a:buClr>
              <a:buSzPts val="1600"/>
              <a:buFont typeface="Times New Roman"/>
              <a:buNone/>
            </a:pPr>
            <a:r>
              <a:rPr lang="en-US" sz="1600" b="0" i="0" u="none" strike="noStrike" cap="none">
                <a:solidFill>
                  <a:srgbClr val="000000"/>
                </a:solidFill>
                <a:latin typeface="Times New Roman"/>
                <a:ea typeface="Times New Roman"/>
                <a:cs typeface="Times New Roman"/>
                <a:sym typeface="Times New Roman"/>
              </a:rPr>
              <a:t>María Camila Molina</a:t>
            </a:r>
            <a:endParaRPr/>
          </a:p>
          <a:p>
            <a:pPr marL="0" marR="0" lvl="0" indent="0" algn="ctr" rtl="0">
              <a:lnSpc>
                <a:spcPct val="100000"/>
              </a:lnSpc>
              <a:spcBef>
                <a:spcPts val="0"/>
              </a:spcBef>
              <a:spcAft>
                <a:spcPts val="0"/>
              </a:spcAft>
              <a:buClr>
                <a:srgbClr val="000000"/>
              </a:buClr>
              <a:buSzPts val="1600"/>
              <a:buFont typeface="Times New Roman"/>
              <a:buNone/>
            </a:pPr>
            <a:r>
              <a:rPr lang="en-US" sz="1600" b="0" i="0" u="none" strike="noStrike" cap="none">
                <a:solidFill>
                  <a:srgbClr val="000000"/>
                </a:solidFill>
                <a:latin typeface="Times New Roman"/>
                <a:ea typeface="Times New Roman"/>
                <a:cs typeface="Times New Roman"/>
                <a:sym typeface="Times New Roman"/>
              </a:rPr>
              <a:t>Johan Esteban Casquete</a:t>
            </a:r>
            <a:endParaRPr/>
          </a:p>
          <a:p>
            <a:pPr marL="0" marR="0" lvl="0" indent="0" algn="ctr" rtl="0">
              <a:lnSpc>
                <a:spcPct val="100000"/>
              </a:lnSpc>
              <a:spcBef>
                <a:spcPts val="0"/>
              </a:spcBef>
              <a:spcAft>
                <a:spcPts val="0"/>
              </a:spcAft>
              <a:buClr>
                <a:srgbClr val="000000"/>
              </a:buClr>
              <a:buSzPts val="1600"/>
              <a:buFont typeface="Times New Roman"/>
              <a:buNone/>
            </a:pPr>
            <a:r>
              <a:rPr lang="en-US" sz="1600" b="0" i="0" u="none" strike="noStrike" cap="none">
                <a:solidFill>
                  <a:srgbClr val="000000"/>
                </a:solidFill>
                <a:latin typeface="Times New Roman"/>
                <a:ea typeface="Times New Roman"/>
                <a:cs typeface="Times New Roman"/>
                <a:sym typeface="Times New Roman"/>
              </a:rPr>
              <a:t>Melany Vanessa Pinzón </a:t>
            </a:r>
            <a:endParaRPr/>
          </a:p>
        </p:txBody>
      </p:sp>
      <p:pic>
        <p:nvPicPr>
          <p:cNvPr id="97" name="Google Shape;97;p1"/>
          <p:cNvPicPr preferRelativeResize="0"/>
          <p:nvPr/>
        </p:nvPicPr>
        <p:blipFill rotWithShape="1">
          <a:blip r:embed="rId4">
            <a:alphaModFix/>
          </a:blip>
          <a:srcRect/>
          <a:stretch/>
        </p:blipFill>
        <p:spPr>
          <a:xfrm>
            <a:off x="9328559" y="4997511"/>
            <a:ext cx="1819529" cy="99247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102" name="Google Shape;102;p2"/>
          <p:cNvSpPr txBox="1"/>
          <p:nvPr/>
        </p:nvSpPr>
        <p:spPr>
          <a:xfrm>
            <a:off x="-1032110" y="2299332"/>
            <a:ext cx="7021585" cy="193899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0" i="0" u="none" strike="noStrike" cap="none">
                <a:solidFill>
                  <a:schemeClr val="dk1"/>
                </a:solidFill>
                <a:latin typeface="Comic Sans MS"/>
                <a:ea typeface="Comic Sans MS"/>
                <a:cs typeface="Comic Sans MS"/>
                <a:sym typeface="Comic Sans MS"/>
              </a:rPr>
              <a:t>Tabla de </a:t>
            </a:r>
            <a:endParaRPr/>
          </a:p>
          <a:p>
            <a:pPr marL="0" marR="0" lvl="0" indent="0" algn="ctr" rtl="0">
              <a:spcBef>
                <a:spcPts val="0"/>
              </a:spcBef>
              <a:spcAft>
                <a:spcPts val="0"/>
              </a:spcAft>
              <a:buNone/>
            </a:pPr>
            <a:r>
              <a:rPr lang="en-US" sz="6000" b="0" i="0" u="none" strike="noStrike" cap="none">
                <a:solidFill>
                  <a:schemeClr val="dk1"/>
                </a:solidFill>
                <a:latin typeface="Comic Sans MS"/>
                <a:ea typeface="Comic Sans MS"/>
                <a:cs typeface="Comic Sans MS"/>
                <a:sym typeface="Comic Sans MS"/>
              </a:rPr>
              <a:t>Contenido </a:t>
            </a:r>
            <a:endParaRPr sz="6000" b="0" i="0" u="none" strike="noStrike" cap="none">
              <a:solidFill>
                <a:schemeClr val="dk1"/>
              </a:solidFill>
              <a:latin typeface="Comic Sans MS"/>
              <a:ea typeface="Comic Sans MS"/>
              <a:cs typeface="Comic Sans MS"/>
              <a:sym typeface="Comic Sans MS"/>
            </a:endParaRPr>
          </a:p>
        </p:txBody>
      </p:sp>
      <p:graphicFrame>
        <p:nvGraphicFramePr>
          <p:cNvPr id="103" name="Google Shape;103;p2"/>
          <p:cNvGraphicFramePr/>
          <p:nvPr/>
        </p:nvGraphicFramePr>
        <p:xfrm>
          <a:off x="5095857" y="306203"/>
          <a:ext cx="3000000" cy="3000000"/>
        </p:xfrm>
        <a:graphic>
          <a:graphicData uri="http://schemas.openxmlformats.org/drawingml/2006/table">
            <a:tbl>
              <a:tblPr firstRow="1" bandRow="1">
                <a:noFill/>
                <a:tableStyleId>{37BC4DA8-83AE-4B31-9FE9-980BD2D22D64}</a:tableStyleId>
              </a:tblPr>
              <a:tblGrid>
                <a:gridCol w="5109025">
                  <a:extLst>
                    <a:ext uri="{9D8B030D-6E8A-4147-A177-3AD203B41FA5}">
                      <a16:colId xmlns:a16="http://schemas.microsoft.com/office/drawing/2014/main" val="20000"/>
                    </a:ext>
                  </a:extLst>
                </a:gridCol>
              </a:tblGrid>
              <a:tr h="555775">
                <a:tc>
                  <a:txBody>
                    <a:bodyPr/>
                    <a:lstStyle/>
                    <a:p>
                      <a:pPr marL="0" marR="0" lvl="0" indent="0" algn="ctr" rtl="0">
                        <a:spcBef>
                          <a:spcPts val="0"/>
                        </a:spcBef>
                        <a:spcAft>
                          <a:spcPts val="0"/>
                        </a:spcAft>
                        <a:buNone/>
                      </a:pPr>
                      <a:endParaRPr sz="1800" u="none" strike="noStrike" cap="none"/>
                    </a:p>
                  </a:txBody>
                  <a:tcPr marL="91450" marR="91450" marT="45725" marB="45725"/>
                </a:tc>
                <a:extLst>
                  <a:ext uri="{0D108BD9-81ED-4DB2-BD59-A6C34878D82A}">
                    <a16:rowId xmlns:a16="http://schemas.microsoft.com/office/drawing/2014/main" val="10000"/>
                  </a:ext>
                </a:extLst>
              </a:tr>
              <a:tr h="555775">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1" u="none" strike="noStrike" cap="none">
                          <a:latin typeface="Times New Roman"/>
                          <a:ea typeface="Times New Roman"/>
                          <a:cs typeface="Times New Roman"/>
                          <a:sym typeface="Times New Roman"/>
                        </a:rPr>
                        <a:t>1. Nombre del Proyecto e integrantes</a:t>
                      </a:r>
                      <a:endParaRPr/>
                    </a:p>
                  </a:txBody>
                  <a:tcPr marL="91450" marR="91450" marT="45725" marB="45725"/>
                </a:tc>
                <a:extLst>
                  <a:ext uri="{0D108BD9-81ED-4DB2-BD59-A6C34878D82A}">
                    <a16:rowId xmlns:a16="http://schemas.microsoft.com/office/drawing/2014/main" val="10001"/>
                  </a:ext>
                </a:extLst>
              </a:tr>
              <a:tr h="588500">
                <a:tc>
                  <a:txBody>
                    <a:bodyPr/>
                    <a:lstStyle/>
                    <a:p>
                      <a:pPr marL="0" marR="0" lvl="0" indent="0" algn="l" rtl="0">
                        <a:spcBef>
                          <a:spcPts val="0"/>
                        </a:spcBef>
                        <a:spcAft>
                          <a:spcPts val="0"/>
                        </a:spcAft>
                        <a:buNone/>
                      </a:pPr>
                      <a:r>
                        <a:rPr lang="en-US" sz="1800" b="1" u="none" strike="noStrike" cap="none">
                          <a:latin typeface="Times New Roman"/>
                          <a:ea typeface="Times New Roman"/>
                          <a:cs typeface="Times New Roman"/>
                          <a:sym typeface="Times New Roman"/>
                        </a:rPr>
                        <a:t>2. Planteamiento Del Problema</a:t>
                      </a:r>
                      <a:endParaRPr sz="1800" b="1"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2"/>
                  </a:ext>
                </a:extLst>
              </a:tr>
              <a:tr h="555775">
                <a:tc>
                  <a:txBody>
                    <a:bodyPr/>
                    <a:lstStyle/>
                    <a:p>
                      <a:pPr marL="0" marR="0" lvl="0" indent="0" algn="l" rtl="0">
                        <a:spcBef>
                          <a:spcPts val="0"/>
                        </a:spcBef>
                        <a:spcAft>
                          <a:spcPts val="0"/>
                        </a:spcAft>
                        <a:buNone/>
                      </a:pPr>
                      <a:r>
                        <a:rPr lang="en-US" sz="1800" b="1" u="none" strike="noStrike" cap="none">
                          <a:latin typeface="Times New Roman"/>
                          <a:ea typeface="Times New Roman"/>
                          <a:cs typeface="Times New Roman"/>
                          <a:sym typeface="Times New Roman"/>
                        </a:rPr>
                        <a:t>3. Pregunta del Proyecto </a:t>
                      </a:r>
                      <a:endParaRPr sz="1800" b="1"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3"/>
                  </a:ext>
                </a:extLst>
              </a:tr>
              <a:tr h="555775">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1" u="none" strike="noStrike" cap="none">
                          <a:latin typeface="Times New Roman"/>
                          <a:ea typeface="Times New Roman"/>
                          <a:cs typeface="Times New Roman"/>
                          <a:sym typeface="Times New Roman"/>
                        </a:rPr>
                        <a:t>4. Justificación</a:t>
                      </a:r>
                      <a:endParaRPr sz="1800" b="1"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4"/>
                  </a:ext>
                </a:extLst>
              </a:tr>
              <a:tr h="555775">
                <a:tc>
                  <a:txBody>
                    <a:bodyPr/>
                    <a:lstStyle/>
                    <a:p>
                      <a:pPr marL="0" marR="0" lvl="0" indent="0" algn="l" rtl="0">
                        <a:spcBef>
                          <a:spcPts val="0"/>
                        </a:spcBef>
                        <a:spcAft>
                          <a:spcPts val="0"/>
                        </a:spcAft>
                        <a:buNone/>
                      </a:pPr>
                      <a:r>
                        <a:rPr lang="en-US" sz="1800" b="1" u="none" strike="noStrike" cap="none">
                          <a:latin typeface="Times New Roman"/>
                          <a:ea typeface="Times New Roman"/>
                          <a:cs typeface="Times New Roman"/>
                          <a:sym typeface="Times New Roman"/>
                        </a:rPr>
                        <a:t>5. Objetivo General </a:t>
                      </a:r>
                      <a:endParaRPr sz="1800" b="1"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5"/>
                  </a:ext>
                </a:extLst>
              </a:tr>
              <a:tr h="555775">
                <a:tc>
                  <a:txBody>
                    <a:bodyPr/>
                    <a:lstStyle/>
                    <a:p>
                      <a:pPr marL="0" marR="0" lvl="0" indent="0" algn="l" rtl="0">
                        <a:spcBef>
                          <a:spcPts val="0"/>
                        </a:spcBef>
                        <a:spcAft>
                          <a:spcPts val="0"/>
                        </a:spcAft>
                        <a:buNone/>
                      </a:pPr>
                      <a:r>
                        <a:rPr lang="en-US" sz="1800" b="1" u="none" strike="noStrike" cap="none">
                          <a:latin typeface="Times New Roman"/>
                          <a:ea typeface="Times New Roman"/>
                          <a:cs typeface="Times New Roman"/>
                          <a:sym typeface="Times New Roman"/>
                        </a:rPr>
                        <a:t>6. Objetivos Específicos</a:t>
                      </a:r>
                      <a:endParaRPr sz="1800" b="1"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6"/>
                  </a:ext>
                </a:extLst>
              </a:tr>
              <a:tr h="555775">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1" u="none" strike="noStrike" cap="none">
                          <a:latin typeface="Times New Roman"/>
                          <a:ea typeface="Times New Roman"/>
                          <a:cs typeface="Times New Roman"/>
                          <a:sym typeface="Times New Roman"/>
                        </a:rPr>
                        <a:t>7. Alcance del Proyecto</a:t>
                      </a:r>
                      <a:endParaRPr sz="1800" b="1" u="none" strike="noStrike" cap="none">
                        <a:latin typeface="Times New Roman"/>
                        <a:ea typeface="Times New Roman"/>
                        <a:cs typeface="Times New Roman"/>
                        <a:sym typeface="Times New Roman"/>
                      </a:endParaRPr>
                    </a:p>
                    <a:p>
                      <a:pPr marL="0" marR="0" lvl="0" indent="0" algn="l" rtl="0">
                        <a:spcBef>
                          <a:spcPts val="0"/>
                        </a:spcBef>
                        <a:spcAft>
                          <a:spcPts val="0"/>
                        </a:spcAft>
                        <a:buNone/>
                      </a:pPr>
                      <a:endParaRPr sz="1800" b="1"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7"/>
                  </a:ext>
                </a:extLst>
              </a:tr>
              <a:tr h="555775">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1">
                          <a:latin typeface="Times New Roman"/>
                          <a:ea typeface="Times New Roman"/>
                          <a:cs typeface="Times New Roman"/>
                          <a:sym typeface="Times New Roman"/>
                        </a:rPr>
                        <a:t>8.Diagrama Procesos</a:t>
                      </a:r>
                      <a:endParaRPr sz="1800" b="1" u="none" strike="noStrike" cap="none">
                        <a:latin typeface="Times New Roman"/>
                        <a:ea typeface="Times New Roman"/>
                        <a:cs typeface="Times New Roman"/>
                        <a:sym typeface="Times New Roman"/>
                      </a:endParaRPr>
                    </a:p>
                    <a:p>
                      <a:pPr marL="0" marR="0" lvl="0" indent="0" algn="l" rtl="0">
                        <a:spcBef>
                          <a:spcPts val="0"/>
                        </a:spcBef>
                        <a:spcAft>
                          <a:spcPts val="0"/>
                        </a:spcAft>
                        <a:buNone/>
                      </a:pPr>
                      <a:endParaRPr sz="1800" b="1"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8"/>
                  </a:ext>
                </a:extLst>
              </a:tr>
              <a:tr h="555775">
                <a:tc>
                  <a:txBody>
                    <a:bodyPr/>
                    <a:lstStyle/>
                    <a:p>
                      <a:pPr marL="0" marR="0" lvl="0" indent="0" algn="l" rtl="0">
                        <a:spcBef>
                          <a:spcPts val="0"/>
                        </a:spcBef>
                        <a:spcAft>
                          <a:spcPts val="0"/>
                        </a:spcAft>
                        <a:buNone/>
                      </a:pPr>
                      <a:r>
                        <a:rPr lang="en-US" sz="1800" b="1" u="none" strike="noStrike" cap="none">
                          <a:latin typeface="Times New Roman"/>
                          <a:ea typeface="Times New Roman"/>
                          <a:cs typeface="Times New Roman"/>
                          <a:sym typeface="Times New Roman"/>
                        </a:rPr>
                        <a:t>9. </a:t>
                      </a:r>
                      <a:r>
                        <a:rPr lang="en-US" sz="1800" b="1">
                          <a:latin typeface="Times New Roman"/>
                          <a:ea typeface="Times New Roman"/>
                          <a:cs typeface="Times New Roman"/>
                          <a:sym typeface="Times New Roman"/>
                        </a:rPr>
                        <a:t>Recolección de datos</a:t>
                      </a:r>
                      <a:endParaRPr/>
                    </a:p>
                  </a:txBody>
                  <a:tcPr marL="91450" marR="91450" marT="45725" marB="45725"/>
                </a:tc>
                <a:extLst>
                  <a:ext uri="{0D108BD9-81ED-4DB2-BD59-A6C34878D82A}">
                    <a16:rowId xmlns:a16="http://schemas.microsoft.com/office/drawing/2014/main" val="10009"/>
                  </a:ext>
                </a:extLst>
              </a:tr>
              <a:tr h="555775">
                <a:tc>
                  <a:txBody>
                    <a:bodyPr/>
                    <a:lstStyle/>
                    <a:p>
                      <a:pPr marL="0" lvl="0" indent="0" algn="l" rtl="0">
                        <a:spcBef>
                          <a:spcPts val="0"/>
                        </a:spcBef>
                        <a:spcAft>
                          <a:spcPts val="0"/>
                        </a:spcAft>
                        <a:buClr>
                          <a:schemeClr val="dk1"/>
                        </a:buClr>
                        <a:buSzPts val="1800"/>
                        <a:buFont typeface="Times New Roman"/>
                        <a:buNone/>
                      </a:pPr>
                      <a:r>
                        <a:rPr lang="en-US" sz="1800" b="1">
                          <a:latin typeface="Times New Roman"/>
                          <a:ea typeface="Times New Roman"/>
                          <a:cs typeface="Times New Roman"/>
                          <a:sym typeface="Times New Roman"/>
                        </a:rPr>
                        <a:t>10. Requerimientos</a:t>
                      </a:r>
                      <a:endParaRPr/>
                    </a:p>
                  </a:txBody>
                  <a:tcPr marL="91450" marR="91450" marT="45725" marB="45725"/>
                </a:tc>
                <a:extLst>
                  <a:ext uri="{0D108BD9-81ED-4DB2-BD59-A6C34878D82A}">
                    <a16:rowId xmlns:a16="http://schemas.microsoft.com/office/drawing/2014/main" val="1001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7"/>
        <p:cNvGrpSpPr/>
        <p:nvPr/>
      </p:nvGrpSpPr>
      <p:grpSpPr>
        <a:xfrm>
          <a:off x="0" y="0"/>
          <a:ext cx="0" cy="0"/>
          <a:chOff x="0" y="0"/>
          <a:chExt cx="0" cy="0"/>
        </a:xfrm>
      </p:grpSpPr>
      <p:sp>
        <p:nvSpPr>
          <p:cNvPr id="108" name="Google Shape;108;p3"/>
          <p:cNvSpPr txBox="1"/>
          <p:nvPr/>
        </p:nvSpPr>
        <p:spPr>
          <a:xfrm>
            <a:off x="1209092" y="3076499"/>
            <a:ext cx="9773830"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6000"/>
              <a:buFont typeface="Comic Sans MS"/>
              <a:buNone/>
            </a:pPr>
            <a:r>
              <a:rPr lang="en-US" sz="6000" b="1" i="0" u="none" strike="noStrike" cap="none">
                <a:solidFill>
                  <a:schemeClr val="dk1"/>
                </a:solidFill>
                <a:latin typeface="Comic Sans MS"/>
                <a:ea typeface="Comic Sans MS"/>
                <a:cs typeface="Comic Sans MS"/>
                <a:sym typeface="Comic Sans MS"/>
              </a:rPr>
              <a:t> Formulación del Proyecto</a:t>
            </a:r>
            <a:endParaRPr sz="7200" b="1" i="0" u="none" strike="noStrike" cap="none">
              <a:solidFill>
                <a:schemeClr val="lt1"/>
              </a:solidFill>
              <a:latin typeface="Comic Sans MS"/>
              <a:ea typeface="Comic Sans MS"/>
              <a:cs typeface="Comic Sans MS"/>
              <a:sym typeface="Comic Sans MS"/>
            </a:endParaRPr>
          </a:p>
        </p:txBody>
      </p:sp>
      <p:cxnSp>
        <p:nvCxnSpPr>
          <p:cNvPr id="109" name="Google Shape;109;p3"/>
          <p:cNvCxnSpPr/>
          <p:nvPr/>
        </p:nvCxnSpPr>
        <p:spPr>
          <a:xfrm>
            <a:off x="4972228" y="4092162"/>
            <a:ext cx="2247544" cy="0"/>
          </a:xfrm>
          <a:prstGeom prst="straightConnector1">
            <a:avLst/>
          </a:prstGeom>
          <a:noFill/>
          <a:ln w="12700" cap="flat" cmpd="sng">
            <a:solidFill>
              <a:schemeClr val="lt1"/>
            </a:solidFill>
            <a:prstDash val="solid"/>
            <a:miter lim="800000"/>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3"/>
        <p:cNvGrpSpPr/>
        <p:nvPr/>
      </p:nvGrpSpPr>
      <p:grpSpPr>
        <a:xfrm>
          <a:off x="0" y="0"/>
          <a:ext cx="0" cy="0"/>
          <a:chOff x="0" y="0"/>
          <a:chExt cx="0" cy="0"/>
        </a:xfrm>
      </p:grpSpPr>
      <p:sp>
        <p:nvSpPr>
          <p:cNvPr id="114" name="Google Shape;114;p4"/>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5" name="Google Shape;115;p4"/>
          <p:cNvSpPr txBox="1"/>
          <p:nvPr/>
        </p:nvSpPr>
        <p:spPr>
          <a:xfrm>
            <a:off x="5297762" y="329184"/>
            <a:ext cx="6251110" cy="1783080"/>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None/>
            </a:pPr>
            <a:r>
              <a:rPr lang="en-US" sz="5400" b="1" i="0" u="none" strike="noStrike" cap="none">
                <a:solidFill>
                  <a:schemeClr val="dk1"/>
                </a:solidFill>
                <a:latin typeface="Comic Sans MS"/>
                <a:ea typeface="Comic Sans MS"/>
                <a:cs typeface="Comic Sans MS"/>
                <a:sym typeface="Comic Sans MS"/>
              </a:rPr>
              <a:t>Planteamiento Del Problema</a:t>
            </a:r>
            <a:endParaRPr sz="5400" b="1" i="0" u="none" strike="noStrike" cap="none">
              <a:solidFill>
                <a:schemeClr val="dk1"/>
              </a:solidFill>
              <a:latin typeface="Comic Sans MS"/>
              <a:ea typeface="Comic Sans MS"/>
              <a:cs typeface="Comic Sans MS"/>
              <a:sym typeface="Comic Sans MS"/>
            </a:endParaRPr>
          </a:p>
        </p:txBody>
      </p:sp>
      <p:pic>
        <p:nvPicPr>
          <p:cNvPr id="116" name="Google Shape;116;p4"/>
          <p:cNvPicPr preferRelativeResize="0"/>
          <p:nvPr/>
        </p:nvPicPr>
        <p:blipFill rotWithShape="1">
          <a:blip r:embed="rId3">
            <a:alphaModFix/>
          </a:blip>
          <a:srcRect t="1189" r="-1" b="519"/>
          <a:stretch/>
        </p:blipFill>
        <p:spPr>
          <a:xfrm>
            <a:off x="1" y="10"/>
            <a:ext cx="4657344" cy="6857990"/>
          </a:xfrm>
          <a:custGeom>
            <a:avLst/>
            <a:gdLst/>
            <a:ahLst/>
            <a:cxnLst/>
            <a:rect l="l" t="t" r="r" b="b"/>
            <a:pathLst>
              <a:path w="4657344" h="6858000" extrusionOk="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
        <p:nvSpPr>
          <p:cNvPr id="117" name="Google Shape;117;p4"/>
          <p:cNvSpPr/>
          <p:nvPr/>
        </p:nvSpPr>
        <p:spPr>
          <a:xfrm>
            <a:off x="5297762" y="2374947"/>
            <a:ext cx="4243589" cy="18288"/>
          </a:xfrm>
          <a:custGeom>
            <a:avLst/>
            <a:gdLst/>
            <a:ahLst/>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8" name="Google Shape;118;p4"/>
          <p:cNvSpPr txBox="1"/>
          <p:nvPr/>
        </p:nvSpPr>
        <p:spPr>
          <a:xfrm>
            <a:off x="5297762" y="2722834"/>
            <a:ext cx="6251110" cy="3483864"/>
          </a:xfrm>
          <a:prstGeom prst="rect">
            <a:avLst/>
          </a:prstGeom>
          <a:noFill/>
          <a:ln>
            <a:noFill/>
          </a:ln>
        </p:spPr>
        <p:txBody>
          <a:bodyPr spcFirstLastPara="1" wrap="square" lIns="91425" tIns="45700" rIns="91425" bIns="45700" anchor="t" anchorCtr="0">
            <a:normAutofit fontScale="62500" lnSpcReduction="10000"/>
          </a:bodyPr>
          <a:lstStyle/>
          <a:p>
            <a:pPr marL="0" marR="0" lvl="0" indent="0" algn="l" rtl="0">
              <a:spcBef>
                <a:spcPts val="0"/>
              </a:spcBef>
              <a:spcAft>
                <a:spcPts val="0"/>
              </a:spcAft>
              <a:buNone/>
            </a:pPr>
            <a:r>
              <a:rPr lang="en-US" sz="3200" b="0" i="0" u="none" strike="noStrike" cap="none">
                <a:solidFill>
                  <a:schemeClr val="dk1"/>
                </a:solidFill>
                <a:latin typeface="Comic Sans MS"/>
                <a:ea typeface="Comic Sans MS"/>
                <a:cs typeface="Comic Sans MS"/>
                <a:sym typeface="Comic Sans MS"/>
              </a:rPr>
              <a:t>En el spa </a:t>
            </a:r>
            <a:r>
              <a:rPr lang="en-US" sz="3200" b="1" i="0" u="none" strike="noStrike" cap="none">
                <a:solidFill>
                  <a:schemeClr val="dk1"/>
                </a:solidFill>
                <a:latin typeface="Comic Sans MS"/>
                <a:ea typeface="Comic Sans MS"/>
                <a:cs typeface="Comic Sans MS"/>
                <a:sym typeface="Comic Sans MS"/>
              </a:rPr>
              <a:t>NEW BOYS</a:t>
            </a:r>
            <a:r>
              <a:rPr lang="en-US" sz="3200" b="0" i="0" u="none" strike="noStrike" cap="none">
                <a:solidFill>
                  <a:schemeClr val="dk1"/>
                </a:solidFill>
                <a:latin typeface="Comic Sans MS"/>
                <a:ea typeface="Comic Sans MS"/>
                <a:cs typeface="Comic Sans MS"/>
                <a:sym typeface="Comic Sans MS"/>
              </a:rPr>
              <a:t> existen dificultades en el agendamiento de citas, la organización de horarios y la asignación de servicios, debido a la falta de un registro formal y al uso de mensajes o conversaciones informales. Esto genera confusión tanto para clientes como para trabajadores.</a:t>
            </a:r>
            <a:endParaRPr/>
          </a:p>
          <a:p>
            <a:pPr marL="0" marR="0" lvl="0" indent="0" algn="l" rtl="0">
              <a:spcBef>
                <a:spcPts val="0"/>
              </a:spcBef>
              <a:spcAft>
                <a:spcPts val="0"/>
              </a:spcAft>
              <a:buNone/>
            </a:pPr>
            <a:endParaRPr sz="3200">
              <a:solidFill>
                <a:schemeClr val="dk1"/>
              </a:solidFill>
              <a:latin typeface="Comic Sans MS"/>
              <a:ea typeface="Comic Sans MS"/>
              <a:cs typeface="Comic Sans MS"/>
              <a:sym typeface="Comic Sans MS"/>
            </a:endParaRPr>
          </a:p>
          <a:p>
            <a:pPr marL="0" marR="0" lvl="0" indent="0" algn="l" rtl="0">
              <a:spcBef>
                <a:spcPts val="0"/>
              </a:spcBef>
              <a:spcAft>
                <a:spcPts val="0"/>
              </a:spcAft>
              <a:buNone/>
            </a:pPr>
            <a:r>
              <a:rPr lang="en-US" sz="3200">
                <a:solidFill>
                  <a:schemeClr val="dk1"/>
                </a:solidFill>
                <a:latin typeface="Comic Sans MS"/>
                <a:ea typeface="Comic Sans MS"/>
                <a:cs typeface="Comic Sans MS"/>
                <a:sym typeface="Comic Sans MS"/>
              </a:rPr>
              <a:t>Además, el administrador no tiene claridad sobre qué servicios realiza cada profesional ni sobre el uso de los materiales, lo que dificulta el control del inventario.</a:t>
            </a:r>
            <a:br>
              <a:rPr lang="en-US" sz="2200">
                <a:solidFill>
                  <a:schemeClr val="dk1"/>
                </a:solidFill>
                <a:latin typeface="Calibri"/>
                <a:ea typeface="Calibri"/>
                <a:cs typeface="Calibri"/>
                <a:sym typeface="Calibri"/>
              </a:rPr>
            </a:br>
            <a:endParaRPr sz="2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2"/>
        <p:cNvGrpSpPr/>
        <p:nvPr/>
      </p:nvGrpSpPr>
      <p:grpSpPr>
        <a:xfrm>
          <a:off x="0" y="0"/>
          <a:ext cx="0" cy="0"/>
          <a:chOff x="0" y="0"/>
          <a:chExt cx="0" cy="0"/>
        </a:xfrm>
      </p:grpSpPr>
      <p:sp>
        <p:nvSpPr>
          <p:cNvPr id="123" name="Google Shape;123;p5"/>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4" name="Google Shape;124;p5"/>
          <p:cNvSpPr txBox="1"/>
          <p:nvPr/>
        </p:nvSpPr>
        <p:spPr>
          <a:xfrm>
            <a:off x="640080" y="325369"/>
            <a:ext cx="4368602" cy="1956841"/>
          </a:xfrm>
          <a:prstGeom prst="rect">
            <a:avLst/>
          </a:prstGeom>
          <a:noFill/>
          <a:ln>
            <a:noFill/>
          </a:ln>
        </p:spPr>
        <p:txBody>
          <a:bodyPr spcFirstLastPara="1" wrap="square" lIns="91425" tIns="45700" rIns="91425" bIns="45700" anchor="b" anchorCtr="0">
            <a:normAutofit fontScale="92500"/>
          </a:bodyPr>
          <a:lstStyle/>
          <a:p>
            <a:pPr marL="0" marR="0" lvl="0" indent="0" algn="ctr" rtl="0">
              <a:lnSpc>
                <a:spcPct val="90000"/>
              </a:lnSpc>
              <a:spcBef>
                <a:spcPts val="0"/>
              </a:spcBef>
              <a:spcAft>
                <a:spcPts val="0"/>
              </a:spcAft>
              <a:buNone/>
            </a:pPr>
            <a:r>
              <a:rPr lang="en-US" sz="5400" b="1">
                <a:solidFill>
                  <a:schemeClr val="dk1"/>
                </a:solidFill>
                <a:latin typeface="Comic Sans MS"/>
                <a:ea typeface="Comic Sans MS"/>
                <a:cs typeface="Comic Sans MS"/>
                <a:sym typeface="Comic Sans MS"/>
              </a:rPr>
              <a:t>Pregunta Del Proyecto</a:t>
            </a:r>
            <a:endParaRPr sz="5400" b="1" u="none" strike="noStrike" cap="none">
              <a:solidFill>
                <a:schemeClr val="dk1"/>
              </a:solidFill>
              <a:latin typeface="Comic Sans MS"/>
              <a:ea typeface="Comic Sans MS"/>
              <a:cs typeface="Comic Sans MS"/>
              <a:sym typeface="Comic Sans MS"/>
            </a:endParaRPr>
          </a:p>
        </p:txBody>
      </p:sp>
      <p:sp>
        <p:nvSpPr>
          <p:cNvPr id="125" name="Google Shape;125;p5"/>
          <p:cNvSpPr/>
          <p:nvPr/>
        </p:nvSpPr>
        <p:spPr>
          <a:xfrm>
            <a:off x="640080" y="2586994"/>
            <a:ext cx="3474720" cy="18288"/>
          </a:xfrm>
          <a:custGeom>
            <a:avLst/>
            <a:gdLst/>
            <a:ahLst/>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 name="Google Shape;126;p5"/>
          <p:cNvSpPr txBox="1"/>
          <p:nvPr/>
        </p:nvSpPr>
        <p:spPr>
          <a:xfrm>
            <a:off x="640080" y="2872899"/>
            <a:ext cx="4243589" cy="332066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None/>
            </a:pPr>
            <a:r>
              <a:rPr lang="en-US" sz="2400">
                <a:solidFill>
                  <a:schemeClr val="dk1"/>
                </a:solidFill>
                <a:latin typeface="Calibri"/>
                <a:ea typeface="Calibri"/>
                <a:cs typeface="Calibri"/>
                <a:sym typeface="Calibri"/>
              </a:rPr>
              <a:t>¿Cómo el desarrollo de una aplicación de gestión puede optimizar el agendamiento de citas, el control de los servicios realizados por cada profesional y la administración del inventario en el SPA NEW BOYS?</a:t>
            </a:r>
            <a:endParaRPr sz="2200">
              <a:solidFill>
                <a:schemeClr val="dk1"/>
              </a:solidFill>
              <a:latin typeface="Times New Roman"/>
              <a:ea typeface="Times New Roman"/>
              <a:cs typeface="Times New Roman"/>
              <a:sym typeface="Times New Roman"/>
            </a:endParaRPr>
          </a:p>
        </p:txBody>
      </p:sp>
      <p:pic>
        <p:nvPicPr>
          <p:cNvPr id="127" name="Google Shape;127;p5"/>
          <p:cNvPicPr preferRelativeResize="0"/>
          <p:nvPr/>
        </p:nvPicPr>
        <p:blipFill rotWithShape="1">
          <a:blip r:embed="rId3">
            <a:alphaModFix/>
          </a:blip>
          <a:srcRect t="29728" r="-1" b="3723"/>
          <a:stretch/>
        </p:blipFill>
        <p:spPr>
          <a:xfrm>
            <a:off x="5311702" y="10"/>
            <a:ext cx="6878775" cy="6857990"/>
          </a:xfrm>
          <a:custGeom>
            <a:avLst/>
            <a:gdLst/>
            <a:ahLst/>
            <a:cxnLst/>
            <a:rect l="l" t="t" r="r" b="b"/>
            <a:pathLst>
              <a:path w="6878775" h="6858000" extrusionOk="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1"/>
        <p:cNvGrpSpPr/>
        <p:nvPr/>
      </p:nvGrpSpPr>
      <p:grpSpPr>
        <a:xfrm>
          <a:off x="0" y="0"/>
          <a:ext cx="0" cy="0"/>
          <a:chOff x="0" y="0"/>
          <a:chExt cx="0" cy="0"/>
        </a:xfrm>
      </p:grpSpPr>
      <p:sp>
        <p:nvSpPr>
          <p:cNvPr id="132" name="Google Shape;132;p6"/>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6"/>
          <p:cNvSpPr txBox="1"/>
          <p:nvPr/>
        </p:nvSpPr>
        <p:spPr>
          <a:xfrm>
            <a:off x="471550" y="189614"/>
            <a:ext cx="4368602" cy="1956841"/>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None/>
            </a:pPr>
            <a:r>
              <a:rPr lang="en-US" sz="4800" b="1">
                <a:solidFill>
                  <a:schemeClr val="dk1"/>
                </a:solidFill>
                <a:latin typeface="Comic Sans MS"/>
                <a:ea typeface="Comic Sans MS"/>
                <a:cs typeface="Comic Sans MS"/>
                <a:sym typeface="Comic Sans MS"/>
              </a:rPr>
              <a:t>Justificación</a:t>
            </a:r>
            <a:endParaRPr sz="4800" b="1" u="none" strike="noStrike" cap="none">
              <a:solidFill>
                <a:schemeClr val="dk1"/>
              </a:solidFill>
              <a:latin typeface="Comic Sans MS"/>
              <a:ea typeface="Comic Sans MS"/>
              <a:cs typeface="Comic Sans MS"/>
              <a:sym typeface="Comic Sans MS"/>
            </a:endParaRPr>
          </a:p>
        </p:txBody>
      </p:sp>
      <p:sp>
        <p:nvSpPr>
          <p:cNvPr id="134" name="Google Shape;134;p6"/>
          <p:cNvSpPr/>
          <p:nvPr/>
        </p:nvSpPr>
        <p:spPr>
          <a:xfrm>
            <a:off x="640080" y="2586994"/>
            <a:ext cx="3474720" cy="18288"/>
          </a:xfrm>
          <a:custGeom>
            <a:avLst/>
            <a:gdLst/>
            <a:ahLst/>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5" name="Google Shape;135;p6"/>
          <p:cNvSpPr txBox="1"/>
          <p:nvPr/>
        </p:nvSpPr>
        <p:spPr>
          <a:xfrm>
            <a:off x="369917" y="2841726"/>
            <a:ext cx="4243589" cy="332066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None/>
            </a:pPr>
            <a:endParaRPr sz="1900">
              <a:solidFill>
                <a:schemeClr val="dk1"/>
              </a:solidFill>
              <a:latin typeface="Times New Roman"/>
              <a:ea typeface="Times New Roman"/>
              <a:cs typeface="Times New Roman"/>
              <a:sym typeface="Times New Roman"/>
            </a:endParaRPr>
          </a:p>
        </p:txBody>
      </p:sp>
      <p:pic>
        <p:nvPicPr>
          <p:cNvPr id="136" name="Google Shape;136;p6"/>
          <p:cNvPicPr preferRelativeResize="0"/>
          <p:nvPr/>
        </p:nvPicPr>
        <p:blipFill rotWithShape="1">
          <a:blip r:embed="rId3">
            <a:alphaModFix/>
          </a:blip>
          <a:srcRect t="31671" r="2" b="8511"/>
          <a:stretch/>
        </p:blipFill>
        <p:spPr>
          <a:xfrm>
            <a:off x="5311702" y="10"/>
            <a:ext cx="6878775" cy="6857990"/>
          </a:xfrm>
          <a:custGeom>
            <a:avLst/>
            <a:gdLst/>
            <a:ahLst/>
            <a:cxnLst/>
            <a:rect l="l" t="t" r="r" b="b"/>
            <a:pathLst>
              <a:path w="6878775" h="6858000" extrusionOk="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
        <p:nvSpPr>
          <p:cNvPr id="137" name="Google Shape;137;p6"/>
          <p:cNvSpPr/>
          <p:nvPr/>
        </p:nvSpPr>
        <p:spPr>
          <a:xfrm>
            <a:off x="369917" y="2837920"/>
            <a:ext cx="4803683" cy="3970318"/>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Tras analizar las problemáticas que presenta el SPA NEW BOYS, relacionadas con la inadecuada gestión de citas, la desorganización de los servicios y la falta de control del inventario, se propone el desarrollo de un sistema de información que permita optimizar estos procesos. Este sistema facilitará el agendamiento ordenado de citas para los clientes y brindará al administrador un mayor control sobre los servicios realizados por cada profesional, así como sobre los materiales utilizados en la operación del negocio.</a:t>
            </a:r>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1"/>
        <p:cNvGrpSpPr/>
        <p:nvPr/>
      </p:nvGrpSpPr>
      <p:grpSpPr>
        <a:xfrm>
          <a:off x="0" y="0"/>
          <a:ext cx="0" cy="0"/>
          <a:chOff x="0" y="0"/>
          <a:chExt cx="0" cy="0"/>
        </a:xfrm>
      </p:grpSpPr>
      <p:sp>
        <p:nvSpPr>
          <p:cNvPr id="142" name="Google Shape;142;p7"/>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3" name="Google Shape;143;p7"/>
          <p:cNvSpPr txBox="1"/>
          <p:nvPr/>
        </p:nvSpPr>
        <p:spPr>
          <a:xfrm>
            <a:off x="5297762" y="329184"/>
            <a:ext cx="6251110" cy="1783080"/>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None/>
            </a:pPr>
            <a:r>
              <a:rPr lang="en-US" sz="5400" b="1">
                <a:solidFill>
                  <a:schemeClr val="dk1"/>
                </a:solidFill>
                <a:latin typeface="Comic Sans MS"/>
                <a:ea typeface="Comic Sans MS"/>
                <a:cs typeface="Comic Sans MS"/>
                <a:sym typeface="Comic Sans MS"/>
              </a:rPr>
              <a:t>Objetivo General</a:t>
            </a:r>
            <a:endParaRPr sz="5400" b="1" u="none" strike="noStrike" cap="none">
              <a:solidFill>
                <a:schemeClr val="dk1"/>
              </a:solidFill>
              <a:latin typeface="Comic Sans MS"/>
              <a:ea typeface="Comic Sans MS"/>
              <a:cs typeface="Comic Sans MS"/>
              <a:sym typeface="Comic Sans MS"/>
            </a:endParaRPr>
          </a:p>
        </p:txBody>
      </p:sp>
      <p:pic>
        <p:nvPicPr>
          <p:cNvPr id="144" name="Google Shape;144;p7"/>
          <p:cNvPicPr preferRelativeResize="0"/>
          <p:nvPr/>
        </p:nvPicPr>
        <p:blipFill rotWithShape="1">
          <a:blip r:embed="rId3">
            <a:alphaModFix/>
          </a:blip>
          <a:srcRect l="2984"/>
          <a:stretch/>
        </p:blipFill>
        <p:spPr>
          <a:xfrm>
            <a:off x="1" y="10"/>
            <a:ext cx="4657344" cy="6857990"/>
          </a:xfrm>
          <a:custGeom>
            <a:avLst/>
            <a:gdLst/>
            <a:ahLst/>
            <a:cxnLst/>
            <a:rect l="l" t="t" r="r" b="b"/>
            <a:pathLst>
              <a:path w="4657344" h="6858000" extrusionOk="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
        <p:nvSpPr>
          <p:cNvPr id="145" name="Google Shape;145;p7"/>
          <p:cNvSpPr/>
          <p:nvPr/>
        </p:nvSpPr>
        <p:spPr>
          <a:xfrm>
            <a:off x="5297762" y="2374947"/>
            <a:ext cx="4243589" cy="18288"/>
          </a:xfrm>
          <a:custGeom>
            <a:avLst/>
            <a:gdLst/>
            <a:ahLst/>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6" name="Google Shape;146;p7"/>
          <p:cNvSpPr txBox="1"/>
          <p:nvPr/>
        </p:nvSpPr>
        <p:spPr>
          <a:xfrm>
            <a:off x="5297762" y="3079209"/>
            <a:ext cx="6251110" cy="1764792"/>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None/>
            </a:pPr>
            <a:r>
              <a:rPr lang="en-US" sz="2400">
                <a:solidFill>
                  <a:schemeClr val="dk1"/>
                </a:solidFill>
                <a:latin typeface="Calibri"/>
                <a:ea typeface="Calibri"/>
                <a:cs typeface="Calibri"/>
                <a:sym typeface="Calibri"/>
              </a:rPr>
              <a:t>Crear un sistema de información que permita gestionar de manera sencilla y organizada el control de los clientes, los horarios, los servicios y el inventario del SPA NEW BOYS.</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0"/>
        <p:cNvGrpSpPr/>
        <p:nvPr/>
      </p:nvGrpSpPr>
      <p:grpSpPr>
        <a:xfrm>
          <a:off x="0" y="0"/>
          <a:ext cx="0" cy="0"/>
          <a:chOff x="0" y="0"/>
          <a:chExt cx="0" cy="0"/>
        </a:xfrm>
      </p:grpSpPr>
      <p:sp>
        <p:nvSpPr>
          <p:cNvPr id="151" name="Google Shape;151;p8"/>
          <p:cNvSpPr txBox="1"/>
          <p:nvPr/>
        </p:nvSpPr>
        <p:spPr>
          <a:xfrm>
            <a:off x="5776073" y="79531"/>
            <a:ext cx="5958911" cy="156966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800"/>
              <a:buFont typeface="Comic Sans MS"/>
              <a:buNone/>
            </a:pPr>
            <a:r>
              <a:rPr lang="en-US" sz="4800" b="1">
                <a:solidFill>
                  <a:schemeClr val="dk1"/>
                </a:solidFill>
                <a:latin typeface="Comic Sans MS"/>
                <a:ea typeface="Comic Sans MS"/>
                <a:cs typeface="Comic Sans MS"/>
                <a:sym typeface="Comic Sans MS"/>
              </a:rPr>
              <a:t>Objetivos Específicos</a:t>
            </a:r>
            <a:endParaRPr sz="4800" b="1" u="none" strike="noStrike" cap="none">
              <a:solidFill>
                <a:schemeClr val="lt1"/>
              </a:solidFill>
              <a:latin typeface="Comic Sans MS"/>
              <a:ea typeface="Comic Sans MS"/>
              <a:cs typeface="Comic Sans MS"/>
              <a:sym typeface="Comic Sans MS"/>
            </a:endParaRPr>
          </a:p>
        </p:txBody>
      </p:sp>
      <p:grpSp>
        <p:nvGrpSpPr>
          <p:cNvPr id="152" name="Google Shape;152;p8"/>
          <p:cNvGrpSpPr/>
          <p:nvPr/>
        </p:nvGrpSpPr>
        <p:grpSpPr>
          <a:xfrm>
            <a:off x="5810249" y="2290584"/>
            <a:ext cx="5649597" cy="3705323"/>
            <a:chOff x="34176" y="378718"/>
            <a:chExt cx="5649597" cy="3705323"/>
          </a:xfrm>
        </p:grpSpPr>
        <p:sp>
          <p:nvSpPr>
            <p:cNvPr id="153" name="Google Shape;153;p8"/>
            <p:cNvSpPr/>
            <p:nvPr/>
          </p:nvSpPr>
          <p:spPr>
            <a:xfrm>
              <a:off x="34176" y="378718"/>
              <a:ext cx="729328" cy="729328"/>
            </a:xfrm>
            <a:prstGeom prst="ellipse">
              <a:avLst/>
            </a:prstGeom>
            <a:solidFill>
              <a:srgbClr val="CCD3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8"/>
            <p:cNvSpPr/>
            <p:nvPr/>
          </p:nvSpPr>
          <p:spPr>
            <a:xfrm>
              <a:off x="187335" y="531877"/>
              <a:ext cx="423010" cy="423010"/>
            </a:xfrm>
            <a:prstGeom prst="rect">
              <a:avLst/>
            </a:prstGeom>
            <a:blipFill rotWithShape="1">
              <a:blip r:embed="rId4">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8"/>
            <p:cNvSpPr/>
            <p:nvPr/>
          </p:nvSpPr>
          <p:spPr>
            <a:xfrm>
              <a:off x="919789" y="378718"/>
              <a:ext cx="1719130" cy="72932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8"/>
            <p:cNvSpPr txBox="1"/>
            <p:nvPr/>
          </p:nvSpPr>
          <p:spPr>
            <a:xfrm>
              <a:off x="919789" y="378718"/>
              <a:ext cx="1719130" cy="72932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Times New Roman"/>
                <a:buNone/>
              </a:pPr>
              <a:r>
                <a:rPr lang="en-US" sz="1200" b="0" i="0">
                  <a:solidFill>
                    <a:schemeClr val="dk1"/>
                  </a:solidFill>
                  <a:latin typeface="Times New Roman"/>
                  <a:ea typeface="Times New Roman"/>
                  <a:cs typeface="Times New Roman"/>
                  <a:sym typeface="Times New Roman"/>
                </a:rPr>
                <a:t>Organizar de forma sencilla los roles y los permisos de cada tipo de usuario</a:t>
              </a:r>
              <a:endParaRPr sz="1200">
                <a:solidFill>
                  <a:schemeClr val="dk1"/>
                </a:solidFill>
                <a:latin typeface="Times New Roman"/>
                <a:ea typeface="Times New Roman"/>
                <a:cs typeface="Times New Roman"/>
                <a:sym typeface="Times New Roman"/>
              </a:endParaRPr>
            </a:p>
          </p:txBody>
        </p:sp>
        <p:sp>
          <p:nvSpPr>
            <p:cNvPr id="157" name="Google Shape;157;p8"/>
            <p:cNvSpPr/>
            <p:nvPr/>
          </p:nvSpPr>
          <p:spPr>
            <a:xfrm>
              <a:off x="2938465" y="378718"/>
              <a:ext cx="729328" cy="729328"/>
            </a:xfrm>
            <a:prstGeom prst="ellipse">
              <a:avLst/>
            </a:prstGeom>
            <a:solidFill>
              <a:srgbClr val="CCD3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8"/>
            <p:cNvSpPr/>
            <p:nvPr/>
          </p:nvSpPr>
          <p:spPr>
            <a:xfrm>
              <a:off x="3091624" y="531877"/>
              <a:ext cx="423010" cy="423010"/>
            </a:xfrm>
            <a:prstGeom prst="rect">
              <a:avLst/>
            </a:prstGeom>
            <a:blipFill rotWithShape="1">
              <a:blip r:embed="rId5">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8"/>
            <p:cNvSpPr/>
            <p:nvPr/>
          </p:nvSpPr>
          <p:spPr>
            <a:xfrm>
              <a:off x="3824078" y="378718"/>
              <a:ext cx="1719130" cy="72932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8"/>
            <p:cNvSpPr txBox="1"/>
            <p:nvPr/>
          </p:nvSpPr>
          <p:spPr>
            <a:xfrm>
              <a:off x="3824078" y="378718"/>
              <a:ext cx="1719130" cy="72932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Times New Roman"/>
                <a:buNone/>
              </a:pPr>
              <a:r>
                <a:rPr lang="en-US" sz="1200" b="0" i="0">
                  <a:solidFill>
                    <a:schemeClr val="dk1"/>
                  </a:solidFill>
                  <a:latin typeface="Times New Roman"/>
                  <a:ea typeface="Times New Roman"/>
                  <a:cs typeface="Times New Roman"/>
                  <a:sym typeface="Times New Roman"/>
                </a:rPr>
                <a:t>Diseñar una pantalla donde el administrador pueda manejar los turnos de sus trabajadores sin complicaciones</a:t>
              </a:r>
              <a:endParaRPr sz="1200">
                <a:solidFill>
                  <a:schemeClr val="dk1"/>
                </a:solidFill>
                <a:latin typeface="Times New Roman"/>
                <a:ea typeface="Times New Roman"/>
                <a:cs typeface="Times New Roman"/>
                <a:sym typeface="Times New Roman"/>
              </a:endParaRPr>
            </a:p>
          </p:txBody>
        </p:sp>
        <p:sp>
          <p:nvSpPr>
            <p:cNvPr id="161" name="Google Shape;161;p8"/>
            <p:cNvSpPr/>
            <p:nvPr/>
          </p:nvSpPr>
          <p:spPr>
            <a:xfrm>
              <a:off x="34176" y="1866715"/>
              <a:ext cx="729328" cy="729328"/>
            </a:xfrm>
            <a:prstGeom prst="ellipse">
              <a:avLst/>
            </a:prstGeom>
            <a:solidFill>
              <a:srgbClr val="CCD3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8"/>
            <p:cNvSpPr/>
            <p:nvPr/>
          </p:nvSpPr>
          <p:spPr>
            <a:xfrm>
              <a:off x="187335" y="2019874"/>
              <a:ext cx="423010" cy="423010"/>
            </a:xfrm>
            <a:prstGeom prst="rect">
              <a:avLst/>
            </a:prstGeom>
            <a:blipFill rotWithShape="1">
              <a:blip r:embed="rId6">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8"/>
            <p:cNvSpPr/>
            <p:nvPr/>
          </p:nvSpPr>
          <p:spPr>
            <a:xfrm>
              <a:off x="870665" y="1866715"/>
              <a:ext cx="2000260" cy="72932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8"/>
            <p:cNvSpPr txBox="1"/>
            <p:nvPr/>
          </p:nvSpPr>
          <p:spPr>
            <a:xfrm>
              <a:off x="870665" y="1866715"/>
              <a:ext cx="2000260" cy="72932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Hacer más fácil la comunicación entre el cliente y el SPA</a:t>
              </a:r>
              <a:endParaRPr/>
            </a:p>
          </p:txBody>
        </p:sp>
        <p:sp>
          <p:nvSpPr>
            <p:cNvPr id="165" name="Google Shape;165;p8"/>
            <p:cNvSpPr/>
            <p:nvPr/>
          </p:nvSpPr>
          <p:spPr>
            <a:xfrm>
              <a:off x="3079030" y="1866715"/>
              <a:ext cx="729328" cy="729328"/>
            </a:xfrm>
            <a:prstGeom prst="ellipse">
              <a:avLst/>
            </a:prstGeom>
            <a:solidFill>
              <a:srgbClr val="CCD3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8"/>
            <p:cNvSpPr/>
            <p:nvPr/>
          </p:nvSpPr>
          <p:spPr>
            <a:xfrm>
              <a:off x="3222028" y="2019874"/>
              <a:ext cx="423010" cy="423010"/>
            </a:xfrm>
            <a:prstGeom prst="rect">
              <a:avLst/>
            </a:prstGeom>
            <a:blipFill rotWithShape="1">
              <a:blip r:embed="rId7">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8"/>
            <p:cNvSpPr/>
            <p:nvPr/>
          </p:nvSpPr>
          <p:spPr>
            <a:xfrm>
              <a:off x="3964643" y="1866715"/>
              <a:ext cx="1719130" cy="72932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8"/>
            <p:cNvSpPr txBox="1"/>
            <p:nvPr/>
          </p:nvSpPr>
          <p:spPr>
            <a:xfrm>
              <a:off x="3964643" y="1866715"/>
              <a:ext cx="1719130" cy="72932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Times New Roman"/>
                <a:buNone/>
              </a:pPr>
              <a:r>
                <a:rPr lang="en-US" sz="1200" b="0" i="0">
                  <a:solidFill>
                    <a:schemeClr val="dk1"/>
                  </a:solidFill>
                  <a:latin typeface="Times New Roman"/>
                  <a:ea typeface="Times New Roman"/>
                  <a:cs typeface="Times New Roman"/>
                  <a:sym typeface="Times New Roman"/>
                </a:rPr>
                <a:t>Llevar un registro de los servicios </a:t>
              </a:r>
              <a:r>
                <a:rPr lang="en-US" sz="1200">
                  <a:solidFill>
                    <a:schemeClr val="dk1"/>
                  </a:solidFill>
                  <a:latin typeface="Times New Roman"/>
                  <a:ea typeface="Times New Roman"/>
                  <a:cs typeface="Times New Roman"/>
                  <a:sym typeface="Times New Roman"/>
                </a:rPr>
                <a:t>más</a:t>
              </a:r>
              <a:r>
                <a:rPr lang="en-US" sz="1200" b="0" i="0">
                  <a:solidFill>
                    <a:schemeClr val="dk1"/>
                  </a:solidFill>
                  <a:latin typeface="Times New Roman"/>
                  <a:ea typeface="Times New Roman"/>
                  <a:cs typeface="Times New Roman"/>
                  <a:sym typeface="Times New Roman"/>
                </a:rPr>
                <a:t> solicitados , las calificaciones que reciben y los insumos que se </a:t>
              </a:r>
              <a:r>
                <a:rPr lang="en-US" sz="1200">
                  <a:solidFill>
                    <a:schemeClr val="dk1"/>
                  </a:solidFill>
                  <a:latin typeface="Times New Roman"/>
                  <a:ea typeface="Times New Roman"/>
                  <a:cs typeface="Times New Roman"/>
                  <a:sym typeface="Times New Roman"/>
                </a:rPr>
                <a:t>entregarán</a:t>
              </a:r>
              <a:endParaRPr sz="1200">
                <a:solidFill>
                  <a:schemeClr val="dk1"/>
                </a:solidFill>
                <a:latin typeface="Times New Roman"/>
                <a:ea typeface="Times New Roman"/>
                <a:cs typeface="Times New Roman"/>
                <a:sym typeface="Times New Roman"/>
              </a:endParaRPr>
            </a:p>
          </p:txBody>
        </p:sp>
        <p:sp>
          <p:nvSpPr>
            <p:cNvPr id="169" name="Google Shape;169;p8"/>
            <p:cNvSpPr/>
            <p:nvPr/>
          </p:nvSpPr>
          <p:spPr>
            <a:xfrm>
              <a:off x="34176" y="3354713"/>
              <a:ext cx="729328" cy="729328"/>
            </a:xfrm>
            <a:prstGeom prst="ellipse">
              <a:avLst/>
            </a:prstGeom>
            <a:solidFill>
              <a:srgbClr val="CCD3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8"/>
            <p:cNvSpPr/>
            <p:nvPr/>
          </p:nvSpPr>
          <p:spPr>
            <a:xfrm>
              <a:off x="187335" y="3507872"/>
              <a:ext cx="423010" cy="423010"/>
            </a:xfrm>
            <a:prstGeom prst="rect">
              <a:avLst/>
            </a:prstGeom>
            <a:blipFill rotWithShape="1">
              <a:blip r:embed="rId8">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8"/>
            <p:cNvSpPr/>
            <p:nvPr/>
          </p:nvSpPr>
          <p:spPr>
            <a:xfrm>
              <a:off x="797988" y="3334394"/>
              <a:ext cx="2181474" cy="72932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8"/>
            <p:cNvSpPr txBox="1"/>
            <p:nvPr/>
          </p:nvSpPr>
          <p:spPr>
            <a:xfrm>
              <a:off x="797988" y="3334394"/>
              <a:ext cx="2181474" cy="72932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Times New Roman"/>
                <a:buNone/>
              </a:pPr>
              <a:r>
                <a:rPr lang="en-US" sz="1200" b="0" i="0">
                  <a:solidFill>
                    <a:schemeClr val="dk1"/>
                  </a:solidFill>
                  <a:latin typeface="Times New Roman"/>
                  <a:ea typeface="Times New Roman"/>
                  <a:cs typeface="Times New Roman"/>
                  <a:sym typeface="Times New Roman"/>
                </a:rPr>
                <a:t>Enviar recordatorios automáticos de las citas agendadas para reducir las ausencias y mejorar la puntualidad de los clientes</a:t>
              </a:r>
              <a:endParaRPr sz="1200">
                <a:solidFill>
                  <a:schemeClr val="dk1"/>
                </a:solidFill>
                <a:latin typeface="Times New Roman"/>
                <a:ea typeface="Times New Roman"/>
                <a:cs typeface="Times New Roman"/>
                <a:sym typeface="Times New Roman"/>
              </a:endParaRPr>
            </a:p>
          </p:txBody>
        </p:sp>
      </p:grpSp>
      <p:pic>
        <p:nvPicPr>
          <p:cNvPr id="173" name="Google Shape;173;p8" descr="Patrón de fondo&#10;&#10;El contenido generado por IA puede ser incorrecto."/>
          <p:cNvPicPr preferRelativeResize="0"/>
          <p:nvPr/>
        </p:nvPicPr>
        <p:blipFill rotWithShape="1">
          <a:blip r:embed="rId9">
            <a:alphaModFix/>
          </a:blip>
          <a:srcRect/>
          <a:stretch/>
        </p:blipFill>
        <p:spPr>
          <a:xfrm>
            <a:off x="697976" y="0"/>
            <a:ext cx="4111444" cy="6858000"/>
          </a:xfrm>
          <a:prstGeom prst="ellipse">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7"/>
        <p:cNvGrpSpPr/>
        <p:nvPr/>
      </p:nvGrpSpPr>
      <p:grpSpPr>
        <a:xfrm>
          <a:off x="0" y="0"/>
          <a:ext cx="0" cy="0"/>
          <a:chOff x="0" y="0"/>
          <a:chExt cx="0" cy="0"/>
        </a:xfrm>
      </p:grpSpPr>
      <p:sp>
        <p:nvSpPr>
          <p:cNvPr id="178" name="Google Shape;178;p9"/>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 name="Google Shape;179;p9"/>
          <p:cNvSpPr txBox="1"/>
          <p:nvPr/>
        </p:nvSpPr>
        <p:spPr>
          <a:xfrm>
            <a:off x="5297762" y="329184"/>
            <a:ext cx="6251110" cy="1783080"/>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None/>
            </a:pPr>
            <a:r>
              <a:rPr lang="en-US" sz="5400" b="1">
                <a:solidFill>
                  <a:schemeClr val="dk1"/>
                </a:solidFill>
                <a:latin typeface="Comic Sans MS"/>
                <a:ea typeface="Comic Sans MS"/>
                <a:cs typeface="Comic Sans MS"/>
                <a:sym typeface="Comic Sans MS"/>
              </a:rPr>
              <a:t>Alcance del</a:t>
            </a:r>
            <a:endParaRPr/>
          </a:p>
          <a:p>
            <a:pPr marL="0" marR="0" lvl="0" indent="0" algn="ctr" rtl="0">
              <a:lnSpc>
                <a:spcPct val="90000"/>
              </a:lnSpc>
              <a:spcBef>
                <a:spcPts val="600"/>
              </a:spcBef>
              <a:spcAft>
                <a:spcPts val="0"/>
              </a:spcAft>
              <a:buNone/>
            </a:pPr>
            <a:r>
              <a:rPr lang="en-US" sz="5400" b="1">
                <a:solidFill>
                  <a:schemeClr val="dk1"/>
                </a:solidFill>
                <a:latin typeface="Comic Sans MS"/>
                <a:ea typeface="Comic Sans MS"/>
                <a:cs typeface="Comic Sans MS"/>
                <a:sym typeface="Comic Sans MS"/>
              </a:rPr>
              <a:t>Proyecto</a:t>
            </a:r>
            <a:endParaRPr sz="5400" b="1" u="none" strike="noStrike" cap="none">
              <a:solidFill>
                <a:schemeClr val="dk1"/>
              </a:solidFill>
              <a:latin typeface="Comic Sans MS"/>
              <a:ea typeface="Comic Sans MS"/>
              <a:cs typeface="Comic Sans MS"/>
              <a:sym typeface="Comic Sans MS"/>
            </a:endParaRPr>
          </a:p>
        </p:txBody>
      </p:sp>
      <p:pic>
        <p:nvPicPr>
          <p:cNvPr id="180" name="Google Shape;180;p9" descr="Diagrama&#10;&#10;El contenido generado por IA puede ser incorrecto."/>
          <p:cNvPicPr preferRelativeResize="0"/>
          <p:nvPr/>
        </p:nvPicPr>
        <p:blipFill rotWithShape="1">
          <a:blip r:embed="rId3">
            <a:alphaModFix/>
          </a:blip>
          <a:srcRect r="-1" b="17170"/>
          <a:stretch/>
        </p:blipFill>
        <p:spPr>
          <a:xfrm>
            <a:off x="0" y="-9515"/>
            <a:ext cx="4657344" cy="6857990"/>
          </a:xfrm>
          <a:custGeom>
            <a:avLst/>
            <a:gdLst/>
            <a:ahLst/>
            <a:cxnLst/>
            <a:rect l="l" t="t" r="r" b="b"/>
            <a:pathLst>
              <a:path w="4657344" h="6858000" extrusionOk="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
        <p:nvSpPr>
          <p:cNvPr id="181" name="Google Shape;181;p9"/>
          <p:cNvSpPr/>
          <p:nvPr/>
        </p:nvSpPr>
        <p:spPr>
          <a:xfrm>
            <a:off x="5297762" y="2374947"/>
            <a:ext cx="4243589" cy="18288"/>
          </a:xfrm>
          <a:custGeom>
            <a:avLst/>
            <a:gdLst/>
            <a:ahLst/>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2" name="Google Shape;182;p9"/>
          <p:cNvSpPr txBox="1"/>
          <p:nvPr/>
        </p:nvSpPr>
        <p:spPr>
          <a:xfrm>
            <a:off x="9985925" y="2614560"/>
            <a:ext cx="1562778" cy="11198543"/>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None/>
            </a:pPr>
            <a:endParaRPr sz="2200" b="1">
              <a:solidFill>
                <a:schemeClr val="dk1"/>
              </a:solidFill>
              <a:latin typeface="Times New Roman"/>
              <a:ea typeface="Times New Roman"/>
              <a:cs typeface="Times New Roman"/>
              <a:sym typeface="Times New Roman"/>
            </a:endParaRPr>
          </a:p>
          <a:p>
            <a:pPr marL="0" marR="0" lvl="0" indent="139700" algn="l" rtl="0">
              <a:lnSpc>
                <a:spcPct val="90000"/>
              </a:lnSpc>
              <a:spcBef>
                <a:spcPts val="600"/>
              </a:spcBef>
              <a:spcAft>
                <a:spcPts val="0"/>
              </a:spcAft>
              <a:buClr>
                <a:schemeClr val="dk1"/>
              </a:buClr>
              <a:buSzPts val="2200"/>
              <a:buFont typeface="Arial"/>
              <a:buNone/>
            </a:pPr>
            <a:endParaRPr sz="2200">
              <a:solidFill>
                <a:schemeClr val="dk1"/>
              </a:solidFill>
              <a:latin typeface="Calibri"/>
              <a:ea typeface="Calibri"/>
              <a:cs typeface="Calibri"/>
              <a:sym typeface="Calibri"/>
            </a:endParaRPr>
          </a:p>
          <a:p>
            <a:pPr marL="0" marR="0" lvl="0" indent="0" algn="l" rtl="0">
              <a:lnSpc>
                <a:spcPct val="90000"/>
              </a:lnSpc>
              <a:spcBef>
                <a:spcPts val="600"/>
              </a:spcBef>
              <a:spcAft>
                <a:spcPts val="0"/>
              </a:spcAft>
              <a:buNone/>
            </a:pPr>
            <a:endParaRPr sz="2200">
              <a:solidFill>
                <a:schemeClr val="dk1"/>
              </a:solidFill>
              <a:latin typeface="Calibri"/>
              <a:ea typeface="Calibri"/>
              <a:cs typeface="Calibri"/>
              <a:sym typeface="Calibri"/>
            </a:endParaRPr>
          </a:p>
        </p:txBody>
      </p:sp>
      <p:sp>
        <p:nvSpPr>
          <p:cNvPr id="183" name="Google Shape;183;p9"/>
          <p:cNvSpPr/>
          <p:nvPr/>
        </p:nvSpPr>
        <p:spPr>
          <a:xfrm>
            <a:off x="5412862" y="3146963"/>
            <a:ext cx="6436237" cy="2308324"/>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Durante siete trimestres se desarrollará un sistema de información diseñado para optimizar la gestión del SPA NEW BOYS, facilitando la comunicación entre el cliente y el establecimiento al momento de agendar los servicios. Además, el sistema permitirá organizar los horarios, registrar los servicios realizados por cada profesional y apoyar el control del inventario.</a:t>
            </a:r>
            <a:endParaRPr sz="9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7"/>
        <p:cNvGrpSpPr/>
        <p:nvPr/>
      </p:nvGrpSpPr>
      <p:grpSpPr>
        <a:xfrm>
          <a:off x="0" y="0"/>
          <a:ext cx="0" cy="0"/>
          <a:chOff x="0" y="0"/>
          <a:chExt cx="0" cy="0"/>
        </a:xfrm>
      </p:grpSpPr>
      <p:cxnSp>
        <p:nvCxnSpPr>
          <p:cNvPr id="188" name="Google Shape;188;p12"/>
          <p:cNvCxnSpPr/>
          <p:nvPr/>
        </p:nvCxnSpPr>
        <p:spPr>
          <a:xfrm>
            <a:off x="4972228" y="4092162"/>
            <a:ext cx="2247544" cy="0"/>
          </a:xfrm>
          <a:prstGeom prst="straightConnector1">
            <a:avLst/>
          </a:prstGeom>
          <a:noFill/>
          <a:ln w="12700" cap="flat" cmpd="sng">
            <a:solidFill>
              <a:schemeClr val="lt1"/>
            </a:solidFill>
            <a:prstDash val="solid"/>
            <a:miter lim="800000"/>
            <a:headEnd type="none" w="sm" len="sm"/>
            <a:tailEnd type="none" w="sm" len="sm"/>
          </a:ln>
        </p:spPr>
      </p:cxnSp>
      <p:sp>
        <p:nvSpPr>
          <p:cNvPr id="189" name="Google Shape;189;p12"/>
          <p:cNvSpPr txBox="1"/>
          <p:nvPr/>
        </p:nvSpPr>
        <p:spPr>
          <a:xfrm>
            <a:off x="1252125" y="3096373"/>
            <a:ext cx="9815809" cy="527874"/>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5400"/>
              <a:buFont typeface="Comic Sans MS"/>
              <a:buNone/>
            </a:pPr>
            <a:r>
              <a:rPr lang="en-US" sz="5400" b="1" u="none" strike="noStrike" cap="none">
                <a:solidFill>
                  <a:schemeClr val="dk1"/>
                </a:solidFill>
                <a:latin typeface="Comic Sans MS"/>
                <a:ea typeface="Comic Sans MS"/>
                <a:cs typeface="Comic Sans MS"/>
                <a:sym typeface="Comic Sans MS"/>
              </a:rPr>
              <a:t>Diagrama Procesos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5" name="Imagen 4">
            <a:extLst>
              <a:ext uri="{FF2B5EF4-FFF2-40B4-BE49-F238E27FC236}">
                <a16:creationId xmlns:a16="http://schemas.microsoft.com/office/drawing/2014/main" id="{138B512D-F89C-4A73-8085-06628742B4EF}"/>
              </a:ext>
            </a:extLst>
          </p:cNvPr>
          <p:cNvPicPr>
            <a:picLocks noChangeAspect="1"/>
          </p:cNvPicPr>
          <p:nvPr/>
        </p:nvPicPr>
        <p:blipFill>
          <a:blip r:embed="rId3"/>
          <a:stretch>
            <a:fillRect/>
          </a:stretch>
        </p:blipFill>
        <p:spPr>
          <a:xfrm>
            <a:off x="0" y="813415"/>
            <a:ext cx="12192000" cy="523116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0"/>
        <p:cNvGrpSpPr/>
        <p:nvPr/>
      </p:nvGrpSpPr>
      <p:grpSpPr>
        <a:xfrm>
          <a:off x="0" y="0"/>
          <a:ext cx="0" cy="0"/>
          <a:chOff x="0" y="0"/>
          <a:chExt cx="0" cy="0"/>
        </a:xfrm>
      </p:grpSpPr>
      <p:cxnSp>
        <p:nvCxnSpPr>
          <p:cNvPr id="211" name="Google Shape;211;g391c78eebce_0_4"/>
          <p:cNvCxnSpPr/>
          <p:nvPr/>
        </p:nvCxnSpPr>
        <p:spPr>
          <a:xfrm>
            <a:off x="4972228" y="4092162"/>
            <a:ext cx="2247600" cy="0"/>
          </a:xfrm>
          <a:prstGeom prst="straightConnector1">
            <a:avLst/>
          </a:prstGeom>
          <a:noFill/>
          <a:ln w="12700" cap="flat" cmpd="sng">
            <a:solidFill>
              <a:schemeClr val="lt1"/>
            </a:solidFill>
            <a:prstDash val="solid"/>
            <a:miter lim="800000"/>
            <a:headEnd type="none" w="sm" len="sm"/>
            <a:tailEnd type="none" w="sm" len="sm"/>
          </a:ln>
        </p:spPr>
      </p:cxnSp>
      <p:sp>
        <p:nvSpPr>
          <p:cNvPr id="212" name="Google Shape;212;g391c78eebce_0_4"/>
          <p:cNvSpPr txBox="1"/>
          <p:nvPr/>
        </p:nvSpPr>
        <p:spPr>
          <a:xfrm>
            <a:off x="1252125" y="3096373"/>
            <a:ext cx="9815700" cy="5280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5400"/>
              <a:buFont typeface="Comic Sans MS"/>
              <a:buNone/>
            </a:pPr>
            <a:r>
              <a:rPr lang="en-US" sz="5400" b="1">
                <a:solidFill>
                  <a:schemeClr val="dk1"/>
                </a:solidFill>
                <a:latin typeface="Comic Sans MS"/>
                <a:ea typeface="Comic Sans MS"/>
                <a:cs typeface="Comic Sans MS"/>
                <a:sym typeface="Comic Sans MS"/>
              </a:rPr>
              <a:t>Recolección de Datos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6"/>
        <p:cNvGrpSpPr/>
        <p:nvPr/>
      </p:nvGrpSpPr>
      <p:grpSpPr>
        <a:xfrm>
          <a:off x="0" y="0"/>
          <a:ext cx="0" cy="0"/>
          <a:chOff x="0" y="0"/>
          <a:chExt cx="0" cy="0"/>
        </a:xfrm>
      </p:grpSpPr>
      <p:sp>
        <p:nvSpPr>
          <p:cNvPr id="217" name="Google Shape;217;g391c78eebce_0_9"/>
          <p:cNvSpPr/>
          <p:nvPr/>
        </p:nvSpPr>
        <p:spPr>
          <a:xfrm>
            <a:off x="0" y="0"/>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8" name="Google Shape;218;g391c78eebce_0_9"/>
          <p:cNvSpPr txBox="1"/>
          <p:nvPr/>
        </p:nvSpPr>
        <p:spPr>
          <a:xfrm>
            <a:off x="471550" y="189614"/>
            <a:ext cx="4368600" cy="1956900"/>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None/>
            </a:pPr>
            <a:r>
              <a:rPr lang="en-US" sz="4800" b="1">
                <a:solidFill>
                  <a:schemeClr val="dk1"/>
                </a:solidFill>
                <a:latin typeface="Comic Sans MS"/>
                <a:ea typeface="Comic Sans MS"/>
                <a:cs typeface="Comic Sans MS"/>
                <a:sym typeface="Comic Sans MS"/>
              </a:rPr>
              <a:t>Encuesta</a:t>
            </a:r>
            <a:endParaRPr sz="4800" b="1" u="none" strike="noStrike" cap="none">
              <a:solidFill>
                <a:schemeClr val="dk1"/>
              </a:solidFill>
              <a:latin typeface="Comic Sans MS"/>
              <a:ea typeface="Comic Sans MS"/>
              <a:cs typeface="Comic Sans MS"/>
              <a:sym typeface="Comic Sans MS"/>
            </a:endParaRPr>
          </a:p>
        </p:txBody>
      </p:sp>
      <p:sp>
        <p:nvSpPr>
          <p:cNvPr id="219" name="Google Shape;219;g391c78eebce_0_9"/>
          <p:cNvSpPr/>
          <p:nvPr/>
        </p:nvSpPr>
        <p:spPr>
          <a:xfrm>
            <a:off x="640080" y="2586994"/>
            <a:ext cx="3474720" cy="18288"/>
          </a:xfrm>
          <a:custGeom>
            <a:avLst/>
            <a:gdLst/>
            <a:ahLst/>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0" name="Google Shape;220;g391c78eebce_0_9"/>
          <p:cNvSpPr txBox="1"/>
          <p:nvPr/>
        </p:nvSpPr>
        <p:spPr>
          <a:xfrm>
            <a:off x="369917" y="2841726"/>
            <a:ext cx="4243500" cy="33207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None/>
            </a:pPr>
            <a:endParaRPr sz="1900">
              <a:solidFill>
                <a:schemeClr val="dk1"/>
              </a:solidFill>
              <a:latin typeface="Times New Roman"/>
              <a:ea typeface="Times New Roman"/>
              <a:cs typeface="Times New Roman"/>
              <a:sym typeface="Times New Roman"/>
            </a:endParaRPr>
          </a:p>
        </p:txBody>
      </p:sp>
      <p:pic>
        <p:nvPicPr>
          <p:cNvPr id="221" name="Google Shape;221;g391c78eebce_0_9"/>
          <p:cNvPicPr preferRelativeResize="0"/>
          <p:nvPr/>
        </p:nvPicPr>
        <p:blipFill rotWithShape="1">
          <a:blip r:embed="rId3">
            <a:alphaModFix/>
          </a:blip>
          <a:srcRect t="31674" b="8506"/>
          <a:stretch/>
        </p:blipFill>
        <p:spPr>
          <a:xfrm>
            <a:off x="5311702" y="10"/>
            <a:ext cx="6878775" cy="6858000"/>
          </a:xfrm>
          <a:custGeom>
            <a:avLst/>
            <a:gdLst/>
            <a:ahLst/>
            <a:cxnLst/>
            <a:rect l="l" t="t" r="r" b="b"/>
            <a:pathLst>
              <a:path w="6878775" h="6858000" extrusionOk="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
        <p:nvSpPr>
          <p:cNvPr id="222" name="Google Shape;222;g391c78eebce_0_9"/>
          <p:cNvSpPr/>
          <p:nvPr/>
        </p:nvSpPr>
        <p:spPr>
          <a:xfrm>
            <a:off x="369917" y="2837920"/>
            <a:ext cx="4803600" cy="3970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a:solidFill>
                  <a:schemeClr val="dk1"/>
                </a:solidFill>
              </a:rPr>
              <a:t>Se realizaron dos encuestas en el spa: una dirigida a los trabajadores y otra a los clientes, con el fin de identificar y analizar las principales problemáticas presentes desde ambas perspectivas. Al analizar los resultados obtenidos de estas encuestas, nos podemos dar cuenta que la mayor parte de los clientes están de acuerdo con la necesidad de implementar este tipo de sistemas en el spa</a:t>
            </a:r>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6"/>
        <p:cNvGrpSpPr/>
        <p:nvPr/>
      </p:nvGrpSpPr>
      <p:grpSpPr>
        <a:xfrm>
          <a:off x="0" y="0"/>
          <a:ext cx="0" cy="0"/>
          <a:chOff x="0" y="0"/>
          <a:chExt cx="0" cy="0"/>
        </a:xfrm>
      </p:grpSpPr>
      <p:cxnSp>
        <p:nvCxnSpPr>
          <p:cNvPr id="227" name="Google Shape;227;g391c78eebce_0_18"/>
          <p:cNvCxnSpPr/>
          <p:nvPr/>
        </p:nvCxnSpPr>
        <p:spPr>
          <a:xfrm>
            <a:off x="4972228" y="4092162"/>
            <a:ext cx="2247600" cy="0"/>
          </a:xfrm>
          <a:prstGeom prst="straightConnector1">
            <a:avLst/>
          </a:prstGeom>
          <a:noFill/>
          <a:ln w="12700" cap="flat" cmpd="sng">
            <a:solidFill>
              <a:schemeClr val="lt1"/>
            </a:solidFill>
            <a:prstDash val="solid"/>
            <a:miter lim="800000"/>
            <a:headEnd type="none" w="sm" len="sm"/>
            <a:tailEnd type="none" w="sm" len="sm"/>
          </a:ln>
        </p:spPr>
      </p:cxnSp>
      <p:sp>
        <p:nvSpPr>
          <p:cNvPr id="228" name="Google Shape;228;g391c78eebce_0_18"/>
          <p:cNvSpPr txBox="1"/>
          <p:nvPr/>
        </p:nvSpPr>
        <p:spPr>
          <a:xfrm>
            <a:off x="1252125" y="3096373"/>
            <a:ext cx="9815700" cy="5280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5400"/>
              <a:buFont typeface="Comic Sans MS"/>
              <a:buNone/>
            </a:pPr>
            <a:r>
              <a:rPr lang="en-US" sz="5400" b="1">
                <a:solidFill>
                  <a:schemeClr val="dk1"/>
                </a:solidFill>
                <a:latin typeface="Comic Sans MS"/>
                <a:ea typeface="Comic Sans MS"/>
                <a:cs typeface="Comic Sans MS"/>
                <a:sym typeface="Comic Sans MS"/>
              </a:rPr>
              <a:t>Requerimientos</a:t>
            </a:r>
            <a:endParaRPr sz="5400" b="1">
              <a:solidFill>
                <a:schemeClr val="dk1"/>
              </a:solidFill>
              <a:latin typeface="Comic Sans MS"/>
              <a:ea typeface="Comic Sans MS"/>
              <a:cs typeface="Comic Sans MS"/>
              <a:sym typeface="Comic Sans MS"/>
            </a:endParaRPr>
          </a:p>
          <a:p>
            <a:pPr marL="0" marR="0" lvl="0" indent="0" algn="l" rtl="0">
              <a:lnSpc>
                <a:spcPct val="90000"/>
              </a:lnSpc>
              <a:spcBef>
                <a:spcPts val="0"/>
              </a:spcBef>
              <a:spcAft>
                <a:spcPts val="0"/>
              </a:spcAft>
              <a:buClr>
                <a:schemeClr val="dk1"/>
              </a:buClr>
              <a:buSzPts val="5400"/>
              <a:buFont typeface="Comic Sans MS"/>
              <a:buNone/>
            </a:pPr>
            <a:endParaRPr sz="5400" b="1">
              <a:solidFill>
                <a:schemeClr val="dk1"/>
              </a:solidFill>
              <a:latin typeface="Comic Sans MS"/>
              <a:ea typeface="Comic Sans MS"/>
              <a:cs typeface="Comic Sans MS"/>
              <a:sym typeface="Comic Sans M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2"/>
        <p:cNvGrpSpPr/>
        <p:nvPr/>
      </p:nvGrpSpPr>
      <p:grpSpPr>
        <a:xfrm>
          <a:off x="0" y="0"/>
          <a:ext cx="0" cy="0"/>
          <a:chOff x="0" y="0"/>
          <a:chExt cx="0" cy="0"/>
        </a:xfrm>
      </p:grpSpPr>
      <p:sp>
        <p:nvSpPr>
          <p:cNvPr id="233" name="Google Shape;233;p1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4" name="Google Shape;234;p10"/>
          <p:cNvSpPr/>
          <p:nvPr/>
        </p:nvSpPr>
        <p:spPr>
          <a:xfrm rot="-2700000" flipH="1">
            <a:off x="-376156" y="-253670"/>
            <a:ext cx="1827638" cy="1376989"/>
          </a:xfrm>
          <a:custGeom>
            <a:avLst/>
            <a:gdLst/>
            <a:ahLst/>
            <a:cxnLst/>
            <a:rect l="l" t="t" r="r" b="b"/>
            <a:pathLst>
              <a:path w="1827638" h="1376989" extrusionOk="0">
                <a:moveTo>
                  <a:pt x="0" y="987379"/>
                </a:moveTo>
                <a:lnTo>
                  <a:pt x="987379" y="0"/>
                </a:lnTo>
                <a:lnTo>
                  <a:pt x="1827638" y="840260"/>
                </a:lnTo>
                <a:lnTo>
                  <a:pt x="1827638" y="1376989"/>
                </a:lnTo>
                <a:lnTo>
                  <a:pt x="0" y="1376989"/>
                </a:lnTo>
                <a:close/>
              </a:path>
            </a:pathLst>
          </a:cu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5" name="Google Shape;235;p10"/>
          <p:cNvSpPr/>
          <p:nvPr/>
        </p:nvSpPr>
        <p:spPr>
          <a:xfrm rot="-2700000" flipH="1">
            <a:off x="891641" y="422146"/>
            <a:ext cx="645368" cy="645368"/>
          </a:xfrm>
          <a:prstGeom prst="rect">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6" name="Google Shape;236;p10"/>
          <p:cNvSpPr/>
          <p:nvPr/>
        </p:nvSpPr>
        <p:spPr>
          <a:xfrm rot="-2700000" flipH="1">
            <a:off x="10043482" y="655140"/>
            <a:ext cx="687472" cy="687472"/>
          </a:xfrm>
          <a:prstGeom prst="rect">
            <a:avLst/>
          </a:prstGeom>
          <a:solidFill>
            <a:schemeClr val="accent4">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7" name="Google Shape;237;p10"/>
          <p:cNvSpPr/>
          <p:nvPr/>
        </p:nvSpPr>
        <p:spPr>
          <a:xfrm rot="10800000" flipH="1">
            <a:off x="9356643" y="0"/>
            <a:ext cx="2835357" cy="1480837"/>
          </a:xfrm>
          <a:custGeom>
            <a:avLst/>
            <a:gdLst/>
            <a:ahLst/>
            <a:cxnLst/>
            <a:rect l="l" t="t" r="r" b="b"/>
            <a:pathLst>
              <a:path w="2835357" h="1480837" extrusionOk="0">
                <a:moveTo>
                  <a:pt x="2835357" y="1480837"/>
                </a:moveTo>
                <a:lnTo>
                  <a:pt x="0" y="1480837"/>
                </a:lnTo>
                <a:lnTo>
                  <a:pt x="1552727" y="0"/>
                </a:lnTo>
                <a:lnTo>
                  <a:pt x="2835357" y="1223245"/>
                </a:lnTo>
                <a:close/>
              </a:path>
            </a:pathLst>
          </a:custGeom>
          <a:solidFill>
            <a:schemeClr val="accent4">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8" name="Google Shape;238;p10"/>
          <p:cNvSpPr/>
          <p:nvPr/>
        </p:nvSpPr>
        <p:spPr>
          <a:xfrm flipH="1">
            <a:off x="7976344" y="6115501"/>
            <a:ext cx="1494513" cy="742499"/>
          </a:xfrm>
          <a:prstGeom prst="triangle">
            <a:avLst>
              <a:gd name="adj" fmla="val 50000"/>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39" name="Google Shape;239;p10" descr="Calendario&#10;&#10;El contenido generado por IA puede ser incorrecto."/>
          <p:cNvPicPr preferRelativeResize="0"/>
          <p:nvPr/>
        </p:nvPicPr>
        <p:blipFill rotWithShape="1">
          <a:blip r:embed="rId3">
            <a:alphaModFix/>
          </a:blip>
          <a:srcRect/>
          <a:stretch/>
        </p:blipFill>
        <p:spPr>
          <a:xfrm>
            <a:off x="643467" y="948097"/>
            <a:ext cx="10905066" cy="4961804"/>
          </a:xfrm>
          <a:prstGeom prst="rect">
            <a:avLst/>
          </a:prstGeom>
          <a:noFill/>
          <a:ln>
            <a:noFill/>
          </a:ln>
        </p:spPr>
      </p:pic>
      <p:sp>
        <p:nvSpPr>
          <p:cNvPr id="240" name="Google Shape;240;p10"/>
          <p:cNvSpPr/>
          <p:nvPr/>
        </p:nvSpPr>
        <p:spPr>
          <a:xfrm flipH="1">
            <a:off x="7604080" y="6453143"/>
            <a:ext cx="814903" cy="404857"/>
          </a:xfrm>
          <a:prstGeom prst="triangle">
            <a:avLst>
              <a:gd name="adj" fmla="val 50000"/>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4"/>
        <p:cNvGrpSpPr/>
        <p:nvPr/>
      </p:nvGrpSpPr>
      <p:grpSpPr>
        <a:xfrm>
          <a:off x="0" y="0"/>
          <a:ext cx="0" cy="0"/>
          <a:chOff x="0" y="0"/>
          <a:chExt cx="0" cy="0"/>
        </a:xfrm>
      </p:grpSpPr>
      <p:sp>
        <p:nvSpPr>
          <p:cNvPr id="245" name="Google Shape;245;p1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6" name="Google Shape;246;p11"/>
          <p:cNvSpPr/>
          <p:nvPr/>
        </p:nvSpPr>
        <p:spPr>
          <a:xfrm rot="-2700000" flipH="1">
            <a:off x="-376156" y="-253670"/>
            <a:ext cx="1827638" cy="1376989"/>
          </a:xfrm>
          <a:custGeom>
            <a:avLst/>
            <a:gdLst/>
            <a:ahLst/>
            <a:cxnLst/>
            <a:rect l="l" t="t" r="r" b="b"/>
            <a:pathLst>
              <a:path w="1827638" h="1376989" extrusionOk="0">
                <a:moveTo>
                  <a:pt x="0" y="987379"/>
                </a:moveTo>
                <a:lnTo>
                  <a:pt x="987379" y="0"/>
                </a:lnTo>
                <a:lnTo>
                  <a:pt x="1827638" y="840260"/>
                </a:lnTo>
                <a:lnTo>
                  <a:pt x="1827638" y="1376989"/>
                </a:lnTo>
                <a:lnTo>
                  <a:pt x="0" y="1376989"/>
                </a:lnTo>
                <a:close/>
              </a:path>
            </a:pathLst>
          </a:cu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7" name="Google Shape;247;p11"/>
          <p:cNvSpPr/>
          <p:nvPr/>
        </p:nvSpPr>
        <p:spPr>
          <a:xfrm rot="-2700000" flipH="1">
            <a:off x="891641" y="422146"/>
            <a:ext cx="645368" cy="645368"/>
          </a:xfrm>
          <a:prstGeom prst="rect">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8" name="Google Shape;248;p11"/>
          <p:cNvSpPr/>
          <p:nvPr/>
        </p:nvSpPr>
        <p:spPr>
          <a:xfrm rot="-2700000" flipH="1">
            <a:off x="10043482" y="655140"/>
            <a:ext cx="687472" cy="687472"/>
          </a:xfrm>
          <a:prstGeom prst="rect">
            <a:avLst/>
          </a:prstGeom>
          <a:solidFill>
            <a:schemeClr val="accent4">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9" name="Google Shape;249;p11"/>
          <p:cNvSpPr/>
          <p:nvPr/>
        </p:nvSpPr>
        <p:spPr>
          <a:xfrm rot="10800000" flipH="1">
            <a:off x="9356643" y="0"/>
            <a:ext cx="2835357" cy="1480837"/>
          </a:xfrm>
          <a:custGeom>
            <a:avLst/>
            <a:gdLst/>
            <a:ahLst/>
            <a:cxnLst/>
            <a:rect l="l" t="t" r="r" b="b"/>
            <a:pathLst>
              <a:path w="2835357" h="1480837" extrusionOk="0">
                <a:moveTo>
                  <a:pt x="2835357" y="1480837"/>
                </a:moveTo>
                <a:lnTo>
                  <a:pt x="0" y="1480837"/>
                </a:lnTo>
                <a:lnTo>
                  <a:pt x="1552727" y="0"/>
                </a:lnTo>
                <a:lnTo>
                  <a:pt x="2835357" y="1223245"/>
                </a:lnTo>
                <a:close/>
              </a:path>
            </a:pathLst>
          </a:custGeom>
          <a:solidFill>
            <a:schemeClr val="accent4">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0" name="Google Shape;250;p11"/>
          <p:cNvSpPr/>
          <p:nvPr/>
        </p:nvSpPr>
        <p:spPr>
          <a:xfrm flipH="1">
            <a:off x="7976344" y="6115501"/>
            <a:ext cx="1494513" cy="742499"/>
          </a:xfrm>
          <a:prstGeom prst="triangle">
            <a:avLst>
              <a:gd name="adj" fmla="val 50000"/>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51" name="Google Shape;251;p11" descr="Tabla&#10;&#10;El contenido generado por IA puede ser incorrecto."/>
          <p:cNvPicPr preferRelativeResize="0"/>
          <p:nvPr/>
        </p:nvPicPr>
        <p:blipFill rotWithShape="1">
          <a:blip r:embed="rId3">
            <a:alphaModFix/>
          </a:blip>
          <a:srcRect/>
          <a:stretch/>
        </p:blipFill>
        <p:spPr>
          <a:xfrm>
            <a:off x="643467" y="920834"/>
            <a:ext cx="10905066" cy="5016331"/>
          </a:xfrm>
          <a:prstGeom prst="rect">
            <a:avLst/>
          </a:prstGeom>
          <a:noFill/>
          <a:ln>
            <a:noFill/>
          </a:ln>
        </p:spPr>
      </p:pic>
      <p:sp>
        <p:nvSpPr>
          <p:cNvPr id="252" name="Google Shape;252;p11"/>
          <p:cNvSpPr/>
          <p:nvPr/>
        </p:nvSpPr>
        <p:spPr>
          <a:xfrm flipH="1">
            <a:off x="7604080" y="6453143"/>
            <a:ext cx="814903" cy="404857"/>
          </a:xfrm>
          <a:prstGeom prst="triangle">
            <a:avLst>
              <a:gd name="adj" fmla="val 50000"/>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532</Words>
  <Application>Microsoft Office PowerPoint</Application>
  <PresentationFormat>Panorámica</PresentationFormat>
  <Paragraphs>45</Paragraphs>
  <Slides>17</Slides>
  <Notes>17</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17</vt:i4>
      </vt:variant>
    </vt:vector>
  </HeadingPairs>
  <TitlesOfParts>
    <vt:vector size="23" baseType="lpstr">
      <vt:lpstr>Comic Sans MS</vt:lpstr>
      <vt:lpstr>Arial</vt:lpstr>
      <vt:lpstr>Times New Roman</vt:lpstr>
      <vt:lpstr>Calibri</vt:lpstr>
      <vt:lpstr>Work Sans Medium</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JOHAN ESTEBAN CASQUETE REINA</cp:lastModifiedBy>
  <cp:revision>1</cp:revision>
  <dcterms:created xsi:type="dcterms:W3CDTF">2020-10-01T23:51:28Z</dcterms:created>
  <dcterms:modified xsi:type="dcterms:W3CDTF">2026-02-08T17:06:58Z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