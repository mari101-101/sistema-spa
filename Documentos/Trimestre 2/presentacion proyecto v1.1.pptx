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6858000" cx="12192000"/>
  <p:notesSz cx="6858000" cy="9144000"/>
  <p:embeddedFontLst>
    <p:embeddedFont>
      <p:font typeface="Work Sans Medium"/>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95">
          <p15:clr>
            <a:srgbClr val="A4A3A4"/>
          </p15:clr>
        </p15:guide>
        <p15:guide id="2" pos="3840">
          <p15:clr>
            <a:srgbClr val="A4A3A4"/>
          </p15:clr>
        </p15:guide>
        <p15:guide id="3" orient="horz" pos="187">
          <p15:clr>
            <a:srgbClr val="A4A3A4"/>
          </p15:clr>
        </p15:guide>
      </p15:sldGuideLst>
    </p:ext>
    <p:ext uri="GoogleSlidesCustomDataVersion2">
      <go:slidesCustomData xmlns:go="http://customooxmlschemas.google.com/" r:id="rId28" roundtripDataSignature="AMtx7mieeIGvuSIB1EpWjDvcU225yX9Z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93F21D-3952-4D56-9D93-AF171A187089}">
  <a:tblStyle styleId="{1993F21D-3952-4D56-9D93-AF171A187089}" styleName="Table_0">
    <a:wholeTbl>
      <a:tcTxStyle b="off" i="off">
        <a:font>
          <a:latin typeface="Calibri"/>
          <a:ea typeface="Calibri"/>
          <a:cs typeface="Calibri"/>
        </a:font>
        <a:schemeClr val="dk1"/>
      </a:tcTxStyle>
      <a:tcStyle>
        <a:tcBdr>
          <a:left>
            <a:ln cap="flat" cmpd="sng" w="9525">
              <a:solidFill>
                <a:schemeClr val="accent6"/>
              </a:solidFill>
              <a:prstDash val="solid"/>
              <a:round/>
              <a:headEnd len="sm" w="sm" type="none"/>
              <a:tailEnd len="sm" w="sm" type="none"/>
            </a:ln>
          </a:left>
          <a:right>
            <a:ln cap="flat" cmpd="sng" w="9525">
              <a:solidFill>
                <a:schemeClr val="accent6"/>
              </a:solidFill>
              <a:prstDash val="solid"/>
              <a:round/>
              <a:headEnd len="sm" w="sm" type="none"/>
              <a:tailEnd len="sm" w="sm" type="none"/>
            </a:ln>
          </a:right>
          <a:top>
            <a:ln cap="flat" cmpd="sng" w="9525">
              <a:solidFill>
                <a:schemeClr val="accent6"/>
              </a:solidFill>
              <a:prstDash val="solid"/>
              <a:round/>
              <a:headEnd len="sm" w="sm" type="none"/>
              <a:tailEnd len="sm" w="sm" type="none"/>
            </a:ln>
          </a:top>
          <a:bottom>
            <a:ln cap="flat" cmpd="sng" w="9525">
              <a:solidFill>
                <a:schemeClr val="accent6"/>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tcBdr>
          <a:top>
            <a:ln cap="flat" cmpd="sng" w="9525">
              <a:solidFill>
                <a:schemeClr val="accent6"/>
              </a:solidFill>
              <a:prstDash val="solid"/>
              <a:round/>
              <a:headEnd len="sm" w="sm" type="none"/>
              <a:tailEnd len="sm" w="sm" type="none"/>
            </a:ln>
          </a:top>
          <a:bottom>
            <a:ln cap="flat" cmpd="sng" w="9525">
              <a:solidFill>
                <a:schemeClr val="accent6"/>
              </a:solidFill>
              <a:prstDash val="solid"/>
              <a:round/>
              <a:headEnd len="sm" w="sm" type="none"/>
              <a:tailEnd len="sm" w="sm" type="none"/>
            </a:ln>
          </a:bottom>
        </a:tcBdr>
      </a:tcStyle>
    </a:band1H>
    <a:band2H>
      <a:tcTxStyle b="off" i="off"/>
    </a:band2H>
    <a:band1V>
      <a:tcTxStyle b="off" i="off"/>
      <a:tcStyle>
        <a:tcBdr>
          <a:left>
            <a:ln cap="flat" cmpd="sng" w="9525">
              <a:solidFill>
                <a:schemeClr val="accent6"/>
              </a:solidFill>
              <a:prstDash val="solid"/>
              <a:round/>
              <a:headEnd len="sm" w="sm" type="none"/>
              <a:tailEnd len="sm" w="sm" type="none"/>
            </a:ln>
          </a:left>
          <a:right>
            <a:ln cap="flat" cmpd="sng" w="9525">
              <a:solidFill>
                <a:schemeClr val="accent6"/>
              </a:solidFill>
              <a:prstDash val="solid"/>
              <a:round/>
              <a:headEnd len="sm" w="sm" type="none"/>
              <a:tailEnd len="sm" w="sm" type="none"/>
            </a:ln>
          </a:right>
        </a:tcBdr>
      </a:tcStyle>
    </a:band1V>
    <a:band2V>
      <a:tcTxStyle b="off" i="off"/>
      <a:tcStyle>
        <a:tcBdr>
          <a:left>
            <a:ln cap="flat" cmpd="sng" w="9525">
              <a:solidFill>
                <a:schemeClr val="accent6"/>
              </a:solidFill>
              <a:prstDash val="solid"/>
              <a:round/>
              <a:headEnd len="sm" w="sm" type="none"/>
              <a:tailEnd len="sm" w="sm" type="none"/>
            </a:ln>
          </a:left>
          <a:right>
            <a:ln cap="flat" cmpd="sng" w="9525">
              <a:solidFill>
                <a:schemeClr val="accent6"/>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6"/>
              </a:solidFill>
              <a:prstDash val="solid"/>
              <a:round/>
              <a:headEnd len="sm" w="sm" type="none"/>
              <a:tailEnd len="sm" w="sm" type="none"/>
            </a:ln>
          </a:top>
        </a:tcBdr>
      </a:tcStyle>
    </a:lastRow>
    <a:seCell>
      <a:tcTxStyle b="off" i="off"/>
    </a:seCell>
    <a:swCell>
      <a:tcTxStyle b="off" i="off"/>
    </a:swCell>
    <a:firstRow>
      <a:tcTxStyle b="on" i="off">
        <a:font>
          <a:latin typeface="Calibri"/>
          <a:ea typeface="Calibri"/>
          <a:cs typeface="Calibri"/>
        </a:font>
        <a:schemeClr val="lt1"/>
      </a:tcTxStyle>
      <a:tcStyle>
        <a:fill>
          <a:solidFill>
            <a:schemeClr val="accent6"/>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95" orient="horz"/>
        <p:guide pos="3840"/>
        <p:guide pos="187"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WorkSansMedium-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WorkSansMedium-italic.fntdata"/><Relationship Id="rId25" Type="http://schemas.openxmlformats.org/officeDocument/2006/relationships/font" Target="fonts/WorkSansMedium-bold.fntdata"/><Relationship Id="rId28" Type="http://customschemas.google.com/relationships/presentationmetadata" Target="metadata"/><Relationship Id="rId27" Type="http://schemas.openxmlformats.org/officeDocument/2006/relationships/font" Target="fonts/WorkSansMedium-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0" name="Google Shape;1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Modulos</a:t>
            </a:r>
            <a:endParaRPr/>
          </a:p>
        </p:txBody>
      </p:sp>
      <p:sp>
        <p:nvSpPr>
          <p:cNvPr id="149" name="Google Shape;1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b0cc1124e2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b0cc1124e2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3" name="Google Shape;193;g3b0cc1124e2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91c78eebce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g391c78eebce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91c78eebce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g391c78eebce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1c78eebce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g391c78eebce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2" name="Google Shape;23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5" name="Shape 15"/>
        <p:cNvGrpSpPr/>
        <p:nvPr/>
      </p:nvGrpSpPr>
      <p:grpSpPr>
        <a:xfrm>
          <a:off x="0" y="0"/>
          <a:ext cx="0" cy="0"/>
          <a:chOff x="0" y="0"/>
          <a:chExt cx="0" cy="0"/>
        </a:xfrm>
      </p:grpSpPr>
      <p:sp>
        <p:nvSpPr>
          <p:cNvPr id="16" name="Google Shape;1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9" name="Shape 19"/>
        <p:cNvGrpSpPr/>
        <p:nvPr/>
      </p:nvGrpSpPr>
      <p:grpSpPr>
        <a:xfrm>
          <a:off x="0" y="0"/>
          <a:ext cx="0" cy="0"/>
          <a:chOff x="0" y="0"/>
          <a:chExt cx="0" cy="0"/>
        </a:xfrm>
      </p:grpSpPr>
      <p:sp>
        <p:nvSpPr>
          <p:cNvPr id="20" name="Google Shape;20;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p:nvPr>
            <p:ph idx="2" type="pic"/>
          </p:nvPr>
        </p:nvSpPr>
        <p:spPr>
          <a:xfrm>
            <a:off x="5183188" y="987425"/>
            <a:ext cx="6172200" cy="4873625"/>
          </a:xfrm>
          <a:prstGeom prst="rect">
            <a:avLst/>
          </a:prstGeom>
          <a:noFill/>
          <a:ln>
            <a:noFill/>
          </a:ln>
        </p:spPr>
      </p:sp>
      <p:sp>
        <p:nvSpPr>
          <p:cNvPr id="68" name="Google Shape;68;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84" name="Shape 84"/>
        <p:cNvGrpSpPr/>
        <p:nvPr/>
      </p:nvGrpSpPr>
      <p:grpSpPr>
        <a:xfrm>
          <a:off x="0" y="0"/>
          <a:ext cx="0" cy="0"/>
          <a:chOff x="0" y="0"/>
          <a:chExt cx="0" cy="0"/>
        </a:xfrm>
      </p:grpSpPr>
      <p:sp>
        <p:nvSpPr>
          <p:cNvPr id="85" name="Google Shape;85;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image" Target="../media/image7.jpg"/><Relationship Id="rId5" Type="http://schemas.openxmlformats.org/officeDocument/2006/relationships/image" Target="../media/image17.png"/><Relationship Id="rId6" Type="http://schemas.openxmlformats.org/officeDocument/2006/relationships/image" Target="../media/image22.png"/><Relationship Id="rId7" Type="http://schemas.openxmlformats.org/officeDocument/2006/relationships/image" Target="../media/image21.png"/><Relationship Id="rId8"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2" name="Shape 92"/>
        <p:cNvGrpSpPr/>
        <p:nvPr/>
      </p:nvGrpSpPr>
      <p:grpSpPr>
        <a:xfrm>
          <a:off x="0" y="0"/>
          <a:ext cx="0" cy="0"/>
          <a:chOff x="0" y="0"/>
          <a:chExt cx="0" cy="0"/>
        </a:xfrm>
      </p:grpSpPr>
      <p:sp>
        <p:nvSpPr>
          <p:cNvPr id="93" name="Google Shape;93;p1"/>
          <p:cNvSpPr txBox="1"/>
          <p:nvPr/>
        </p:nvSpPr>
        <p:spPr>
          <a:xfrm>
            <a:off x="894578" y="1523430"/>
            <a:ext cx="8754247"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3F3F3F"/>
              </a:buClr>
              <a:buSzPts val="5400"/>
              <a:buFont typeface="Comic Sans MS"/>
              <a:buNone/>
            </a:pPr>
            <a:r>
              <a:rPr b="1" i="0" lang="en-US" sz="5400" u="none" cap="none" strike="noStrike">
                <a:solidFill>
                  <a:srgbClr val="3F3F3F"/>
                </a:solidFill>
                <a:latin typeface="Comic Sans MS"/>
                <a:ea typeface="Comic Sans MS"/>
                <a:cs typeface="Comic Sans MS"/>
                <a:sym typeface="Comic Sans MS"/>
              </a:rPr>
              <a:t>Sistema de información para spa New Boys</a:t>
            </a:r>
            <a:endParaRPr b="1" i="0" sz="5400" u="none" cap="none" strike="noStrike">
              <a:solidFill>
                <a:srgbClr val="3F3F3F"/>
              </a:solidFill>
              <a:latin typeface="Comic Sans MS"/>
              <a:ea typeface="Comic Sans MS"/>
              <a:cs typeface="Comic Sans MS"/>
              <a:sym typeface="Comic Sans MS"/>
            </a:endParaRPr>
          </a:p>
        </p:txBody>
      </p:sp>
      <p:sp>
        <p:nvSpPr>
          <p:cNvPr id="94" name="Google Shape;94;p1"/>
          <p:cNvSpPr/>
          <p:nvPr/>
        </p:nvSpPr>
        <p:spPr>
          <a:xfrm>
            <a:off x="9105900" y="4915707"/>
            <a:ext cx="1945270" cy="829034"/>
          </a:xfrm>
          <a:prstGeom prst="rect">
            <a:avLst/>
          </a:prstGeom>
          <a:noFill/>
          <a:ln cap="flat" cmpd="sng" w="9525">
            <a:solidFill>
              <a:schemeClr val="dk1"/>
            </a:solidFill>
            <a:prstDash val="lg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 name="Google Shape;95;p1"/>
          <p:cNvSpPr txBox="1"/>
          <p:nvPr/>
        </p:nvSpPr>
        <p:spPr>
          <a:xfrm>
            <a:off x="9105900" y="4915707"/>
            <a:ext cx="1945270"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Work Sans Medium"/>
                <a:ea typeface="Work Sans Medium"/>
                <a:cs typeface="Work Sans Medium"/>
                <a:sym typeface="Work Sans Medium"/>
              </a:rPr>
              <a:t>Marca externa</a:t>
            </a:r>
            <a:endParaRPr b="0" i="0" sz="1400" u="none" cap="none" strike="noStrike">
              <a:solidFill>
                <a:srgbClr val="000000"/>
              </a:solidFill>
              <a:latin typeface="Arial"/>
              <a:ea typeface="Arial"/>
              <a:cs typeface="Arial"/>
              <a:sym typeface="Arial"/>
            </a:endParaRPr>
          </a:p>
        </p:txBody>
      </p:sp>
      <p:sp>
        <p:nvSpPr>
          <p:cNvPr id="96" name="Google Shape;96;p1"/>
          <p:cNvSpPr txBox="1"/>
          <p:nvPr/>
        </p:nvSpPr>
        <p:spPr>
          <a:xfrm>
            <a:off x="0" y="3714943"/>
            <a:ext cx="3666600" cy="153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imes New Roman"/>
              <a:buNone/>
            </a:pPr>
            <a: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María Camila Molina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Johan Esteban Casquete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Melany Vanessa Pinzón </a:t>
            </a:r>
            <a:endParaRPr b="0" i="0" sz="16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600"/>
              <a:buFont typeface="Times New Roman"/>
              <a:buNone/>
            </a:pPr>
            <a:r>
              <a:rPr lang="en-US" sz="1600">
                <a:latin typeface="Times New Roman"/>
                <a:ea typeface="Times New Roman"/>
                <a:cs typeface="Times New Roman"/>
                <a:sym typeface="Times New Roman"/>
              </a:rPr>
              <a:t>Felipe Reyes</a:t>
            </a:r>
            <a:endParaRPr sz="1600">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600"/>
              <a:buFont typeface="Times New Roman"/>
              <a:buNone/>
            </a:pPr>
            <a:r>
              <a:rPr lang="en-US" sz="1600">
                <a:latin typeface="Times New Roman"/>
                <a:ea typeface="Times New Roman"/>
                <a:cs typeface="Times New Roman"/>
                <a:sym typeface="Times New Roman"/>
              </a:rPr>
              <a:t>Julian Moreno</a:t>
            </a:r>
            <a:endParaRPr sz="1600">
              <a:latin typeface="Times New Roman"/>
              <a:ea typeface="Times New Roman"/>
              <a:cs typeface="Times New Roman"/>
              <a:sym typeface="Times New Roman"/>
            </a:endParaRPr>
          </a:p>
        </p:txBody>
      </p:sp>
      <p:pic>
        <p:nvPicPr>
          <p:cNvPr id="97" name="Google Shape;97;p1"/>
          <p:cNvPicPr preferRelativeResize="0"/>
          <p:nvPr/>
        </p:nvPicPr>
        <p:blipFill rotWithShape="1">
          <a:blip r:embed="rId4">
            <a:alphaModFix/>
          </a:blip>
          <a:srcRect b="0" l="0" r="0" t="0"/>
          <a:stretch/>
        </p:blipFill>
        <p:spPr>
          <a:xfrm>
            <a:off x="9328559" y="4997511"/>
            <a:ext cx="1819529" cy="9924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2"/>
          <p:cNvSpPr txBox="1"/>
          <p:nvPr/>
        </p:nvSpPr>
        <p:spPr>
          <a:xfrm>
            <a:off x="-1032110" y="2299332"/>
            <a:ext cx="7021585" cy="193899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000"/>
              <a:buFont typeface="Arial"/>
              <a:buNone/>
            </a:pPr>
            <a:r>
              <a:rPr b="0" i="0" lang="en-US" sz="6000" u="none" cap="none" strike="noStrike">
                <a:solidFill>
                  <a:schemeClr val="dk1"/>
                </a:solidFill>
                <a:latin typeface="Comic Sans MS"/>
                <a:ea typeface="Comic Sans MS"/>
                <a:cs typeface="Comic Sans MS"/>
                <a:sym typeface="Comic Sans MS"/>
              </a:rPr>
              <a:t>Tabla de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6000"/>
              <a:buFont typeface="Arial"/>
              <a:buNone/>
            </a:pPr>
            <a:r>
              <a:rPr b="0" i="0" lang="en-US" sz="6000" u="none" cap="none" strike="noStrike">
                <a:solidFill>
                  <a:schemeClr val="dk1"/>
                </a:solidFill>
                <a:latin typeface="Comic Sans MS"/>
                <a:ea typeface="Comic Sans MS"/>
                <a:cs typeface="Comic Sans MS"/>
                <a:sym typeface="Comic Sans MS"/>
              </a:rPr>
              <a:t>Contenido </a:t>
            </a:r>
            <a:endParaRPr b="0" i="0" sz="6000" u="none" cap="none" strike="noStrike">
              <a:solidFill>
                <a:schemeClr val="dk1"/>
              </a:solidFill>
              <a:latin typeface="Comic Sans MS"/>
              <a:ea typeface="Comic Sans MS"/>
              <a:cs typeface="Comic Sans MS"/>
              <a:sym typeface="Comic Sans MS"/>
            </a:endParaRPr>
          </a:p>
        </p:txBody>
      </p:sp>
      <p:graphicFrame>
        <p:nvGraphicFramePr>
          <p:cNvPr id="103" name="Google Shape;103;p2"/>
          <p:cNvGraphicFramePr/>
          <p:nvPr/>
        </p:nvGraphicFramePr>
        <p:xfrm>
          <a:off x="5095857" y="306203"/>
          <a:ext cx="3000000" cy="3000000"/>
        </p:xfrm>
        <a:graphic>
          <a:graphicData uri="http://schemas.openxmlformats.org/drawingml/2006/table">
            <a:tbl>
              <a:tblPr bandRow="1" firstRow="1">
                <a:noFill/>
                <a:tableStyleId>{1993F21D-3952-4D56-9D93-AF171A187089}</a:tableStyleId>
              </a:tblPr>
              <a:tblGrid>
                <a:gridCol w="5109025"/>
              </a:tblGrid>
              <a:tr h="555775">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tc>
              </a:tr>
              <a:tr h="555775">
                <a:tc>
                  <a:txBody>
                    <a:bodyPr/>
                    <a:lstStyle/>
                    <a:p>
                      <a:pPr indent="0" lvl="0" marL="0" marR="0" rtl="0" algn="l">
                        <a:lnSpc>
                          <a:spcPct val="100000"/>
                        </a:lnSpc>
                        <a:spcBef>
                          <a:spcPts val="0"/>
                        </a:spcBef>
                        <a:spcAft>
                          <a:spcPts val="0"/>
                        </a:spcAft>
                        <a:buClr>
                          <a:schemeClr val="dk1"/>
                        </a:buClr>
                        <a:buSzPts val="1800"/>
                        <a:buFont typeface="Times New Roman"/>
                        <a:buNone/>
                      </a:pPr>
                      <a:r>
                        <a:rPr b="1" lang="en-US" sz="1800" u="none" cap="none" strike="noStrike">
                          <a:latin typeface="Times New Roman"/>
                          <a:ea typeface="Times New Roman"/>
                          <a:cs typeface="Times New Roman"/>
                          <a:sym typeface="Times New Roman"/>
                        </a:rPr>
                        <a:t>1. Nombre del Proyecto e integrantes</a:t>
                      </a:r>
                      <a:endParaRPr sz="1400" u="none" cap="none" strike="noStrike"/>
                    </a:p>
                  </a:txBody>
                  <a:tcPr marT="45725" marB="45725" marR="91450" marL="91450"/>
                </a:tc>
              </a:tr>
              <a:tr h="58850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2. Planteamiento Del Problema</a:t>
                      </a:r>
                      <a:endParaRPr b="1" sz="1800" u="none" cap="none" strike="noStrike">
                        <a:latin typeface="Times New Roman"/>
                        <a:ea typeface="Times New Roman"/>
                        <a:cs typeface="Times New Roman"/>
                        <a:sym typeface="Times New Roman"/>
                      </a:endParaRPr>
                    </a:p>
                  </a:txBody>
                  <a:tcPr marT="45725" marB="45725" marR="91450" marL="91450"/>
                </a:tc>
              </a:tr>
              <a:tr h="5557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3. Pregunta del Proyecto </a:t>
                      </a:r>
                      <a:endParaRPr b="1" sz="1800" u="none" cap="none" strike="noStrike">
                        <a:latin typeface="Times New Roman"/>
                        <a:ea typeface="Times New Roman"/>
                        <a:cs typeface="Times New Roman"/>
                        <a:sym typeface="Times New Roman"/>
                      </a:endParaRPr>
                    </a:p>
                  </a:txBody>
                  <a:tcPr marT="45725" marB="45725" marR="91450" marL="91450"/>
                </a:tc>
              </a:tr>
              <a:tr h="555775">
                <a:tc>
                  <a:txBody>
                    <a:bodyPr/>
                    <a:lstStyle/>
                    <a:p>
                      <a:pPr indent="0" lvl="0" marL="0" marR="0" rtl="0" algn="l">
                        <a:lnSpc>
                          <a:spcPct val="100000"/>
                        </a:lnSpc>
                        <a:spcBef>
                          <a:spcPts val="0"/>
                        </a:spcBef>
                        <a:spcAft>
                          <a:spcPts val="0"/>
                        </a:spcAft>
                        <a:buClr>
                          <a:schemeClr val="dk1"/>
                        </a:buClr>
                        <a:buSzPts val="1800"/>
                        <a:buFont typeface="Times New Roman"/>
                        <a:buNone/>
                      </a:pPr>
                      <a:r>
                        <a:rPr b="1" lang="en-US" sz="1800" u="none" cap="none" strike="noStrike">
                          <a:latin typeface="Times New Roman"/>
                          <a:ea typeface="Times New Roman"/>
                          <a:cs typeface="Times New Roman"/>
                          <a:sym typeface="Times New Roman"/>
                        </a:rPr>
                        <a:t>4. Justificación</a:t>
                      </a:r>
                      <a:endParaRPr b="1" sz="1800" u="none" cap="none" strike="noStrike">
                        <a:latin typeface="Times New Roman"/>
                        <a:ea typeface="Times New Roman"/>
                        <a:cs typeface="Times New Roman"/>
                        <a:sym typeface="Times New Roman"/>
                      </a:endParaRPr>
                    </a:p>
                  </a:txBody>
                  <a:tcPr marT="45725" marB="45725" marR="91450" marL="91450"/>
                </a:tc>
              </a:tr>
              <a:tr h="5557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5. Objetivo General </a:t>
                      </a:r>
                      <a:endParaRPr b="1" sz="1800" u="none" cap="none" strike="noStrike">
                        <a:latin typeface="Times New Roman"/>
                        <a:ea typeface="Times New Roman"/>
                        <a:cs typeface="Times New Roman"/>
                        <a:sym typeface="Times New Roman"/>
                      </a:endParaRPr>
                    </a:p>
                  </a:txBody>
                  <a:tcPr marT="45725" marB="45725" marR="91450" marL="91450"/>
                </a:tc>
              </a:tr>
              <a:tr h="5557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6. Objetivos Específicos</a:t>
                      </a:r>
                      <a:endParaRPr b="1" sz="1800" u="none" cap="none" strike="noStrike">
                        <a:latin typeface="Times New Roman"/>
                        <a:ea typeface="Times New Roman"/>
                        <a:cs typeface="Times New Roman"/>
                        <a:sym typeface="Times New Roman"/>
                      </a:endParaRPr>
                    </a:p>
                  </a:txBody>
                  <a:tcPr marT="45725" marB="45725" marR="91450" marL="91450"/>
                </a:tc>
              </a:tr>
              <a:tr h="555775">
                <a:tc>
                  <a:txBody>
                    <a:bodyPr/>
                    <a:lstStyle/>
                    <a:p>
                      <a:pPr indent="0" lvl="0" marL="0" marR="0" rtl="0" algn="l">
                        <a:lnSpc>
                          <a:spcPct val="100000"/>
                        </a:lnSpc>
                        <a:spcBef>
                          <a:spcPts val="0"/>
                        </a:spcBef>
                        <a:spcAft>
                          <a:spcPts val="0"/>
                        </a:spcAft>
                        <a:buClr>
                          <a:schemeClr val="dk1"/>
                        </a:buClr>
                        <a:buSzPts val="1800"/>
                        <a:buFont typeface="Times New Roman"/>
                        <a:buNone/>
                      </a:pPr>
                      <a:r>
                        <a:rPr b="1" lang="en-US" sz="1800" u="none" cap="none" strike="noStrike">
                          <a:latin typeface="Times New Roman"/>
                          <a:ea typeface="Times New Roman"/>
                          <a:cs typeface="Times New Roman"/>
                          <a:sym typeface="Times New Roman"/>
                        </a:rPr>
                        <a:t>7. Alcance del Proyecto</a:t>
                      </a:r>
                      <a:endParaRPr b="1" sz="1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latin typeface="Times New Roman"/>
                        <a:ea typeface="Times New Roman"/>
                        <a:cs typeface="Times New Roman"/>
                        <a:sym typeface="Times New Roman"/>
                      </a:endParaRPr>
                    </a:p>
                  </a:txBody>
                  <a:tcPr marT="45725" marB="45725" marR="91450" marL="91450"/>
                </a:tc>
              </a:tr>
              <a:tr h="555775">
                <a:tc>
                  <a:txBody>
                    <a:bodyPr/>
                    <a:lstStyle/>
                    <a:p>
                      <a:pPr indent="0" lvl="0" marL="0" marR="0" rtl="0" algn="l">
                        <a:lnSpc>
                          <a:spcPct val="100000"/>
                        </a:lnSpc>
                        <a:spcBef>
                          <a:spcPts val="0"/>
                        </a:spcBef>
                        <a:spcAft>
                          <a:spcPts val="0"/>
                        </a:spcAft>
                        <a:buClr>
                          <a:schemeClr val="dk1"/>
                        </a:buClr>
                        <a:buSzPts val="1800"/>
                        <a:buFont typeface="Times New Roman"/>
                        <a:buNone/>
                      </a:pPr>
                      <a:r>
                        <a:rPr b="1" lang="en-US" sz="1800" u="none" cap="none" strike="noStrike">
                          <a:latin typeface="Times New Roman"/>
                          <a:ea typeface="Times New Roman"/>
                          <a:cs typeface="Times New Roman"/>
                          <a:sym typeface="Times New Roman"/>
                        </a:rPr>
                        <a:t>8.Diagrama Procesos</a:t>
                      </a:r>
                      <a:endParaRPr b="1" sz="1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t/>
                      </a:r>
                      <a:endParaRPr b="1" sz="1800" u="none" cap="none" strike="noStrike">
                        <a:latin typeface="Times New Roman"/>
                        <a:ea typeface="Times New Roman"/>
                        <a:cs typeface="Times New Roman"/>
                        <a:sym typeface="Times New Roman"/>
                      </a:endParaRPr>
                    </a:p>
                  </a:txBody>
                  <a:tcPr marT="45725" marB="45725" marR="91450" marL="91450"/>
                </a:tc>
              </a:tr>
              <a:tr h="5557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latin typeface="Times New Roman"/>
                          <a:ea typeface="Times New Roman"/>
                          <a:cs typeface="Times New Roman"/>
                          <a:sym typeface="Times New Roman"/>
                        </a:rPr>
                        <a:t>9. Recolección de datos</a:t>
                      </a:r>
                      <a:endParaRPr sz="1400" u="none" cap="none" strike="noStrike"/>
                    </a:p>
                  </a:txBody>
                  <a:tcPr marT="45725" marB="45725" marR="91450" marL="91450"/>
                </a:tc>
              </a:tr>
              <a:tr h="555775">
                <a:tc>
                  <a:txBody>
                    <a:bodyPr/>
                    <a:lstStyle/>
                    <a:p>
                      <a:pPr indent="0" lvl="0" marL="0" marR="0" rtl="0" algn="l">
                        <a:lnSpc>
                          <a:spcPct val="100000"/>
                        </a:lnSpc>
                        <a:spcBef>
                          <a:spcPts val="0"/>
                        </a:spcBef>
                        <a:spcAft>
                          <a:spcPts val="0"/>
                        </a:spcAft>
                        <a:buClr>
                          <a:schemeClr val="dk1"/>
                        </a:buClr>
                        <a:buSzPts val="1800"/>
                        <a:buFont typeface="Times New Roman"/>
                        <a:buNone/>
                      </a:pPr>
                      <a:r>
                        <a:rPr b="1" lang="en-US" sz="1800" u="none" cap="none" strike="noStrike">
                          <a:latin typeface="Times New Roman"/>
                          <a:ea typeface="Times New Roman"/>
                          <a:cs typeface="Times New Roman"/>
                          <a:sym typeface="Times New Roman"/>
                        </a:rPr>
                        <a:t>10. Requerimientos</a:t>
                      </a:r>
                      <a:endParaRPr sz="1400" u="none" cap="none" strike="noStrike"/>
                    </a:p>
                  </a:txBody>
                  <a:tcPr marT="45725" marB="45725" marR="91450" marL="9145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Google Shape;108;p3"/>
          <p:cNvSpPr txBox="1"/>
          <p:nvPr/>
        </p:nvSpPr>
        <p:spPr>
          <a:xfrm>
            <a:off x="1209092" y="3076499"/>
            <a:ext cx="9773830"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6000"/>
              <a:buFont typeface="Comic Sans MS"/>
              <a:buNone/>
            </a:pPr>
            <a:r>
              <a:rPr b="1" i="0" lang="en-US" sz="6000" u="none" cap="none" strike="noStrike">
                <a:solidFill>
                  <a:schemeClr val="dk1"/>
                </a:solidFill>
                <a:latin typeface="Comic Sans MS"/>
                <a:ea typeface="Comic Sans MS"/>
                <a:cs typeface="Comic Sans MS"/>
                <a:sym typeface="Comic Sans MS"/>
              </a:rPr>
              <a:t> Formulación del Proyecto</a:t>
            </a:r>
            <a:endParaRPr b="1" i="0" sz="7200" u="none" cap="none" strike="noStrike">
              <a:solidFill>
                <a:schemeClr val="lt1"/>
              </a:solidFill>
              <a:latin typeface="Comic Sans MS"/>
              <a:ea typeface="Comic Sans MS"/>
              <a:cs typeface="Comic Sans MS"/>
              <a:sym typeface="Comic Sans MS"/>
            </a:endParaRPr>
          </a:p>
        </p:txBody>
      </p:sp>
      <p:cxnSp>
        <p:nvCxnSpPr>
          <p:cNvPr id="109" name="Google Shape;109;p3"/>
          <p:cNvCxnSpPr/>
          <p:nvPr/>
        </p:nvCxnSpPr>
        <p:spPr>
          <a:xfrm>
            <a:off x="4972228" y="4092162"/>
            <a:ext cx="2247544"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 name="Google Shape;115;p4"/>
          <p:cNvSpPr txBox="1"/>
          <p:nvPr/>
        </p:nvSpPr>
        <p:spPr>
          <a:xfrm>
            <a:off x="5297762" y="329184"/>
            <a:ext cx="6251110" cy="1783080"/>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5400"/>
              <a:buFont typeface="Arial"/>
              <a:buNone/>
            </a:pPr>
            <a:r>
              <a:rPr b="1" i="0" lang="en-US" sz="5400" u="none" cap="none" strike="noStrike">
                <a:solidFill>
                  <a:schemeClr val="dk1"/>
                </a:solidFill>
                <a:latin typeface="Comic Sans MS"/>
                <a:ea typeface="Comic Sans MS"/>
                <a:cs typeface="Comic Sans MS"/>
                <a:sym typeface="Comic Sans MS"/>
              </a:rPr>
              <a:t>Planteamiento Del Problema</a:t>
            </a:r>
            <a:endParaRPr b="1" i="0" sz="5400" u="none" cap="none" strike="noStrike">
              <a:solidFill>
                <a:schemeClr val="dk1"/>
              </a:solidFill>
              <a:latin typeface="Comic Sans MS"/>
              <a:ea typeface="Comic Sans MS"/>
              <a:cs typeface="Comic Sans MS"/>
              <a:sym typeface="Comic Sans MS"/>
            </a:endParaRPr>
          </a:p>
        </p:txBody>
      </p:sp>
      <p:pic>
        <p:nvPicPr>
          <p:cNvPr id="116" name="Google Shape;116;p4"/>
          <p:cNvPicPr preferRelativeResize="0"/>
          <p:nvPr/>
        </p:nvPicPr>
        <p:blipFill rotWithShape="1">
          <a:blip r:embed="rId3">
            <a:alphaModFix/>
          </a:blip>
          <a:srcRect b="519" l="0" r="-1" t="1189"/>
          <a:stretch/>
        </p:blipFill>
        <p:spPr>
          <a:xfrm>
            <a:off x="1" y="10"/>
            <a:ext cx="4657344" cy="685799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
        <p:nvSpPr>
          <p:cNvPr id="117" name="Google Shape;117;p4"/>
          <p:cNvSpPr/>
          <p:nvPr/>
        </p:nvSpPr>
        <p:spPr>
          <a:xfrm>
            <a:off x="5297762" y="2374947"/>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8" name="Google Shape;118;p4"/>
          <p:cNvSpPr txBox="1"/>
          <p:nvPr/>
        </p:nvSpPr>
        <p:spPr>
          <a:xfrm>
            <a:off x="5297762" y="2722834"/>
            <a:ext cx="6251110" cy="3483864"/>
          </a:xfrm>
          <a:prstGeom prst="rect">
            <a:avLst/>
          </a:prstGeom>
          <a:noFill/>
          <a:ln>
            <a:noFill/>
          </a:ln>
        </p:spPr>
        <p:txBody>
          <a:bodyPr anchorCtr="0" anchor="t" bIns="45700" lIns="91425" spcFirstLastPara="1" rIns="91425" wrap="square" tIns="45700">
            <a:normAutofit fontScale="62500" lnSpcReduction="10000"/>
          </a:bodyPr>
          <a:lstStyle/>
          <a:p>
            <a:pPr indent="0" lvl="0" marL="0" marR="0" rtl="0" algn="l">
              <a:lnSpc>
                <a:spcPct val="100000"/>
              </a:lnSpc>
              <a:spcBef>
                <a:spcPts val="0"/>
              </a:spcBef>
              <a:spcAft>
                <a:spcPts val="0"/>
              </a:spcAft>
              <a:buClr>
                <a:srgbClr val="000000"/>
              </a:buClr>
              <a:buSzPct val="100000"/>
              <a:buFont typeface="Arial"/>
              <a:buNone/>
            </a:pPr>
            <a:r>
              <a:rPr b="0" i="0" lang="en-US" sz="3200" u="none" cap="none" strike="noStrike">
                <a:solidFill>
                  <a:schemeClr val="dk1"/>
                </a:solidFill>
                <a:latin typeface="Comic Sans MS"/>
                <a:ea typeface="Comic Sans MS"/>
                <a:cs typeface="Comic Sans MS"/>
                <a:sym typeface="Comic Sans MS"/>
              </a:rPr>
              <a:t>En el spa </a:t>
            </a:r>
            <a:r>
              <a:rPr b="1" i="0" lang="en-US" sz="3200" u="none" cap="none" strike="noStrike">
                <a:solidFill>
                  <a:schemeClr val="dk1"/>
                </a:solidFill>
                <a:latin typeface="Comic Sans MS"/>
                <a:ea typeface="Comic Sans MS"/>
                <a:cs typeface="Comic Sans MS"/>
                <a:sym typeface="Comic Sans MS"/>
              </a:rPr>
              <a:t>NEW BOYS</a:t>
            </a:r>
            <a:r>
              <a:rPr b="0" i="0" lang="en-US" sz="3200" u="none" cap="none" strike="noStrike">
                <a:solidFill>
                  <a:schemeClr val="dk1"/>
                </a:solidFill>
                <a:latin typeface="Comic Sans MS"/>
                <a:ea typeface="Comic Sans MS"/>
                <a:cs typeface="Comic Sans MS"/>
                <a:sym typeface="Comic Sans MS"/>
              </a:rPr>
              <a:t> existen dificultades en el agendamiento de citas, la organización de horarios y la asignación de servicios, debido a la falta de un registro formal y al uso de mensajes o conversaciones informales. Esto genera confusión tanto para clientes como para trabajadores.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ct val="100000"/>
              <a:buFont typeface="Arial"/>
              <a:buNone/>
            </a:pPr>
            <a:r>
              <a:t/>
            </a:r>
            <a:endParaRPr b="0" i="0" sz="3200" u="none" cap="none" strike="noStrik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000000"/>
              </a:buClr>
              <a:buSzPct val="100000"/>
              <a:buFont typeface="Arial"/>
              <a:buNone/>
            </a:pPr>
            <a:r>
              <a:rPr b="0" i="0" lang="en-US" sz="3200" u="none" cap="none" strike="noStrike">
                <a:solidFill>
                  <a:schemeClr val="dk1"/>
                </a:solidFill>
                <a:latin typeface="Comic Sans MS"/>
                <a:ea typeface="Comic Sans MS"/>
                <a:cs typeface="Comic Sans MS"/>
                <a:sym typeface="Comic Sans MS"/>
              </a:rPr>
              <a:t>Además, el administrador no tiene claridad sobre qué servicios realiza cada profesional ni sobre el uso de los materiales, lo que dificulta el control del inventario.</a:t>
            </a:r>
            <a:br>
              <a:rPr b="0" i="0" lang="en-US" sz="2200" u="none" cap="none" strike="noStrike">
                <a:solidFill>
                  <a:schemeClr val="dk1"/>
                </a:solidFill>
                <a:latin typeface="Calibri"/>
                <a:ea typeface="Calibri"/>
                <a:cs typeface="Calibri"/>
                <a:sym typeface="Calibri"/>
              </a:rPr>
            </a:b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2" name="Shape 122"/>
        <p:cNvGrpSpPr/>
        <p:nvPr/>
      </p:nvGrpSpPr>
      <p:grpSpPr>
        <a:xfrm>
          <a:off x="0" y="0"/>
          <a:ext cx="0" cy="0"/>
          <a:chOff x="0" y="0"/>
          <a:chExt cx="0" cy="0"/>
        </a:xfrm>
      </p:grpSpPr>
      <p:sp>
        <p:nvSpPr>
          <p:cNvPr id="123" name="Google Shape;123;p5"/>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4" name="Google Shape;124;p5"/>
          <p:cNvSpPr txBox="1"/>
          <p:nvPr/>
        </p:nvSpPr>
        <p:spPr>
          <a:xfrm>
            <a:off x="640080" y="325369"/>
            <a:ext cx="4368602" cy="1956841"/>
          </a:xfrm>
          <a:prstGeom prst="rect">
            <a:avLst/>
          </a:prstGeom>
          <a:noFill/>
          <a:ln>
            <a:noFill/>
          </a:ln>
        </p:spPr>
        <p:txBody>
          <a:bodyPr anchorCtr="0" anchor="b" bIns="45700" lIns="91425" spcFirstLastPara="1" rIns="91425" wrap="square" tIns="45700">
            <a:normAutofit fontScale="92500"/>
          </a:bodyPr>
          <a:lstStyle/>
          <a:p>
            <a:pPr indent="0" lvl="0" marL="0" marR="0" rtl="0" algn="ctr">
              <a:lnSpc>
                <a:spcPct val="90000"/>
              </a:lnSpc>
              <a:spcBef>
                <a:spcPts val="0"/>
              </a:spcBef>
              <a:spcAft>
                <a:spcPts val="0"/>
              </a:spcAft>
              <a:buClr>
                <a:srgbClr val="000000"/>
              </a:buClr>
              <a:buSzPct val="100000"/>
              <a:buFont typeface="Arial"/>
              <a:buNone/>
            </a:pPr>
            <a:r>
              <a:rPr b="1" i="0" lang="en-US" sz="5400" u="none" cap="none" strike="noStrike">
                <a:solidFill>
                  <a:schemeClr val="dk1"/>
                </a:solidFill>
                <a:latin typeface="Comic Sans MS"/>
                <a:ea typeface="Comic Sans MS"/>
                <a:cs typeface="Comic Sans MS"/>
                <a:sym typeface="Comic Sans MS"/>
              </a:rPr>
              <a:t>Pregunta Del Proyecto</a:t>
            </a:r>
            <a:endParaRPr b="1" i="0" sz="5400" u="none" cap="none" strike="noStrike">
              <a:solidFill>
                <a:schemeClr val="dk1"/>
              </a:solidFill>
              <a:latin typeface="Comic Sans MS"/>
              <a:ea typeface="Comic Sans MS"/>
              <a:cs typeface="Comic Sans MS"/>
              <a:sym typeface="Comic Sans MS"/>
            </a:endParaRPr>
          </a:p>
        </p:txBody>
      </p:sp>
      <p:sp>
        <p:nvSpPr>
          <p:cNvPr id="125" name="Google Shape;125;p5"/>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6" name="Google Shape;126;p5"/>
          <p:cNvSpPr txBox="1"/>
          <p:nvPr/>
        </p:nvSpPr>
        <p:spPr>
          <a:xfrm>
            <a:off x="640080" y="2872899"/>
            <a:ext cx="4243589" cy="332066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¿Cómo el desarrollo de una aplicación de gestión puede optimizar el agendamiento de citas, el control de los servicios realizados por cada profesional y la administración del inventario en el SPA NEW BOYS?</a:t>
            </a:r>
            <a:endParaRPr b="0" i="0" sz="2200" u="none" cap="none" strike="noStrike">
              <a:solidFill>
                <a:schemeClr val="dk1"/>
              </a:solidFill>
              <a:latin typeface="Times New Roman"/>
              <a:ea typeface="Times New Roman"/>
              <a:cs typeface="Times New Roman"/>
              <a:sym typeface="Times New Roman"/>
            </a:endParaRPr>
          </a:p>
        </p:txBody>
      </p:sp>
      <p:pic>
        <p:nvPicPr>
          <p:cNvPr id="127" name="Google Shape;127;p5"/>
          <p:cNvPicPr preferRelativeResize="0"/>
          <p:nvPr/>
        </p:nvPicPr>
        <p:blipFill rotWithShape="1">
          <a:blip r:embed="rId3">
            <a:alphaModFix/>
          </a:blip>
          <a:srcRect b="3723" l="0" r="-1" t="29728"/>
          <a:stretch/>
        </p:blipFill>
        <p:spPr>
          <a:xfrm>
            <a:off x="5311702" y="10"/>
            <a:ext cx="6878775" cy="685799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 name="Shape 131"/>
        <p:cNvGrpSpPr/>
        <p:nvPr/>
      </p:nvGrpSpPr>
      <p:grpSpPr>
        <a:xfrm>
          <a:off x="0" y="0"/>
          <a:ext cx="0" cy="0"/>
          <a:chOff x="0" y="0"/>
          <a:chExt cx="0" cy="0"/>
        </a:xfrm>
      </p:grpSpPr>
      <p:sp>
        <p:nvSpPr>
          <p:cNvPr id="132" name="Google Shape;132;p6"/>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 name="Google Shape;133;p6"/>
          <p:cNvSpPr txBox="1"/>
          <p:nvPr/>
        </p:nvSpPr>
        <p:spPr>
          <a:xfrm>
            <a:off x="471550" y="189614"/>
            <a:ext cx="4368602" cy="1956841"/>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4800"/>
              <a:buFont typeface="Arial"/>
              <a:buNone/>
            </a:pPr>
            <a:r>
              <a:rPr b="1" i="0" lang="en-US" sz="4800" u="none" cap="none" strike="noStrike">
                <a:solidFill>
                  <a:schemeClr val="dk1"/>
                </a:solidFill>
                <a:latin typeface="Comic Sans MS"/>
                <a:ea typeface="Comic Sans MS"/>
                <a:cs typeface="Comic Sans MS"/>
                <a:sym typeface="Comic Sans MS"/>
              </a:rPr>
              <a:t>Justificación</a:t>
            </a:r>
            <a:endParaRPr b="1" i="0" sz="4800" u="none" cap="none" strike="noStrike">
              <a:solidFill>
                <a:schemeClr val="dk1"/>
              </a:solidFill>
              <a:latin typeface="Comic Sans MS"/>
              <a:ea typeface="Comic Sans MS"/>
              <a:cs typeface="Comic Sans MS"/>
              <a:sym typeface="Comic Sans MS"/>
            </a:endParaRPr>
          </a:p>
        </p:txBody>
      </p:sp>
      <p:sp>
        <p:nvSpPr>
          <p:cNvPr id="134" name="Google Shape;134;p6"/>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5" name="Google Shape;135;p6"/>
          <p:cNvSpPr txBox="1"/>
          <p:nvPr/>
        </p:nvSpPr>
        <p:spPr>
          <a:xfrm>
            <a:off x="369917" y="2841726"/>
            <a:ext cx="4243589" cy="332066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1900"/>
              <a:buFont typeface="Arial"/>
              <a:buNone/>
            </a:pPr>
            <a:r>
              <a:t/>
            </a:r>
            <a:endParaRPr b="0" i="0" sz="1900" u="none" cap="none" strike="noStrike">
              <a:solidFill>
                <a:schemeClr val="dk1"/>
              </a:solidFill>
              <a:latin typeface="Times New Roman"/>
              <a:ea typeface="Times New Roman"/>
              <a:cs typeface="Times New Roman"/>
              <a:sym typeface="Times New Roman"/>
            </a:endParaRPr>
          </a:p>
        </p:txBody>
      </p:sp>
      <p:pic>
        <p:nvPicPr>
          <p:cNvPr id="136" name="Google Shape;136;p6"/>
          <p:cNvPicPr preferRelativeResize="0"/>
          <p:nvPr/>
        </p:nvPicPr>
        <p:blipFill rotWithShape="1">
          <a:blip r:embed="rId3">
            <a:alphaModFix/>
          </a:blip>
          <a:srcRect b="8511" l="0" r="2" t="31671"/>
          <a:stretch/>
        </p:blipFill>
        <p:spPr>
          <a:xfrm>
            <a:off x="5311702" y="10"/>
            <a:ext cx="6878775" cy="685799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
        <p:nvSpPr>
          <p:cNvPr id="137" name="Google Shape;137;p6"/>
          <p:cNvSpPr/>
          <p:nvPr/>
        </p:nvSpPr>
        <p:spPr>
          <a:xfrm>
            <a:off x="369917" y="2837920"/>
            <a:ext cx="4803683" cy="397031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Tras analizar las problemáticas que presenta el SPA NEW BOYS, relacionadas con la inadecuada gestión de citas, la desorganización de los servicios y la falta de control del inventario, se propone el desarrollo de un sistema de información que permita optimizar estos procesos. Este sistema facilitará el agendamiento ordenado de citas para los clientes y brindará al administrador un mayor control sobre los servicios realizados por cada profesional, así como sobre los materiales utilizados en la operación del negocio.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1" name="Shape 141"/>
        <p:cNvGrpSpPr/>
        <p:nvPr/>
      </p:nvGrpSpPr>
      <p:grpSpPr>
        <a:xfrm>
          <a:off x="0" y="0"/>
          <a:ext cx="0" cy="0"/>
          <a:chOff x="0" y="0"/>
          <a:chExt cx="0" cy="0"/>
        </a:xfrm>
      </p:grpSpPr>
      <p:sp>
        <p:nvSpPr>
          <p:cNvPr id="142" name="Google Shape;142;p7"/>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3" name="Google Shape;143;p7"/>
          <p:cNvSpPr txBox="1"/>
          <p:nvPr/>
        </p:nvSpPr>
        <p:spPr>
          <a:xfrm>
            <a:off x="5297762" y="329184"/>
            <a:ext cx="6251110" cy="178308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5400"/>
              <a:buFont typeface="Arial"/>
              <a:buNone/>
            </a:pPr>
            <a:r>
              <a:rPr b="1" i="0" lang="en-US" sz="5400" u="none" cap="none" strike="noStrike">
                <a:solidFill>
                  <a:schemeClr val="dk1"/>
                </a:solidFill>
                <a:latin typeface="Comic Sans MS"/>
                <a:ea typeface="Comic Sans MS"/>
                <a:cs typeface="Comic Sans MS"/>
                <a:sym typeface="Comic Sans MS"/>
              </a:rPr>
              <a:t>Objetivo General</a:t>
            </a:r>
            <a:endParaRPr b="1" i="0" sz="5400" u="none" cap="none" strike="noStrike">
              <a:solidFill>
                <a:schemeClr val="dk1"/>
              </a:solidFill>
              <a:latin typeface="Comic Sans MS"/>
              <a:ea typeface="Comic Sans MS"/>
              <a:cs typeface="Comic Sans MS"/>
              <a:sym typeface="Comic Sans MS"/>
            </a:endParaRPr>
          </a:p>
        </p:txBody>
      </p:sp>
      <p:pic>
        <p:nvPicPr>
          <p:cNvPr id="144" name="Google Shape;144;p7"/>
          <p:cNvPicPr preferRelativeResize="0"/>
          <p:nvPr/>
        </p:nvPicPr>
        <p:blipFill rotWithShape="1">
          <a:blip r:embed="rId3">
            <a:alphaModFix/>
          </a:blip>
          <a:srcRect b="0" l="2984" r="0" t="0"/>
          <a:stretch/>
        </p:blipFill>
        <p:spPr>
          <a:xfrm>
            <a:off x="1" y="10"/>
            <a:ext cx="4657344" cy="685799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
        <p:nvSpPr>
          <p:cNvPr id="145" name="Google Shape;145;p7"/>
          <p:cNvSpPr/>
          <p:nvPr/>
        </p:nvSpPr>
        <p:spPr>
          <a:xfrm>
            <a:off x="5297762" y="2374947"/>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6" name="Google Shape;146;p7"/>
          <p:cNvSpPr txBox="1"/>
          <p:nvPr/>
        </p:nvSpPr>
        <p:spPr>
          <a:xfrm>
            <a:off x="5297762" y="3079209"/>
            <a:ext cx="6251110" cy="176479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Crear un sistema de información que permita gestionar de manera sencilla y organizada el control de los clientes, los horarios, los servicios y el inventario del SPA NEW BOYS.</a:t>
            </a:r>
            <a:endParaRPr b="0" i="0" sz="22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0" name="Shape 150"/>
        <p:cNvGrpSpPr/>
        <p:nvPr/>
      </p:nvGrpSpPr>
      <p:grpSpPr>
        <a:xfrm>
          <a:off x="0" y="0"/>
          <a:ext cx="0" cy="0"/>
          <a:chOff x="0" y="0"/>
          <a:chExt cx="0" cy="0"/>
        </a:xfrm>
      </p:grpSpPr>
      <p:sp>
        <p:nvSpPr>
          <p:cNvPr id="151" name="Google Shape;151;p8"/>
          <p:cNvSpPr txBox="1"/>
          <p:nvPr/>
        </p:nvSpPr>
        <p:spPr>
          <a:xfrm>
            <a:off x="5776073" y="79531"/>
            <a:ext cx="5958911" cy="15696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800"/>
              <a:buFont typeface="Comic Sans MS"/>
              <a:buNone/>
            </a:pPr>
            <a:r>
              <a:rPr b="1" i="0" lang="en-US" sz="4800" u="none" cap="none" strike="noStrike">
                <a:solidFill>
                  <a:schemeClr val="dk1"/>
                </a:solidFill>
                <a:latin typeface="Comic Sans MS"/>
                <a:ea typeface="Comic Sans MS"/>
                <a:cs typeface="Comic Sans MS"/>
                <a:sym typeface="Comic Sans MS"/>
              </a:rPr>
              <a:t>Objetivos Específicos</a:t>
            </a:r>
            <a:endParaRPr b="1" i="0" sz="4800" u="none" cap="none" strike="noStrike">
              <a:solidFill>
                <a:schemeClr val="lt1"/>
              </a:solidFill>
              <a:latin typeface="Comic Sans MS"/>
              <a:ea typeface="Comic Sans MS"/>
              <a:cs typeface="Comic Sans MS"/>
              <a:sym typeface="Comic Sans MS"/>
            </a:endParaRPr>
          </a:p>
        </p:txBody>
      </p:sp>
      <p:grpSp>
        <p:nvGrpSpPr>
          <p:cNvPr id="152" name="Google Shape;152;p8"/>
          <p:cNvGrpSpPr/>
          <p:nvPr/>
        </p:nvGrpSpPr>
        <p:grpSpPr>
          <a:xfrm>
            <a:off x="5810249" y="2290584"/>
            <a:ext cx="5649597" cy="3705323"/>
            <a:chOff x="34176" y="378718"/>
            <a:chExt cx="5649597" cy="3705323"/>
          </a:xfrm>
        </p:grpSpPr>
        <p:sp>
          <p:nvSpPr>
            <p:cNvPr id="153" name="Google Shape;153;p8"/>
            <p:cNvSpPr/>
            <p:nvPr/>
          </p:nvSpPr>
          <p:spPr>
            <a:xfrm>
              <a:off x="34176" y="378718"/>
              <a:ext cx="729328" cy="729328"/>
            </a:xfrm>
            <a:prstGeom prst="ellipse">
              <a:avLst/>
            </a:prstGeom>
            <a:solidFill>
              <a:srgbClr val="CCD3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8"/>
            <p:cNvSpPr/>
            <p:nvPr/>
          </p:nvSpPr>
          <p:spPr>
            <a:xfrm>
              <a:off x="187335" y="531877"/>
              <a:ext cx="423010" cy="423010"/>
            </a:xfrm>
            <a:prstGeom prst="rect">
              <a:avLst/>
            </a:prstGeom>
            <a:blipFill rotWithShape="1">
              <a:blip r:embed="rId4">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8"/>
            <p:cNvSpPr/>
            <p:nvPr/>
          </p:nvSpPr>
          <p:spPr>
            <a:xfrm>
              <a:off x="919789" y="378718"/>
              <a:ext cx="1719130" cy="72932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8"/>
            <p:cNvSpPr txBox="1"/>
            <p:nvPr/>
          </p:nvSpPr>
          <p:spPr>
            <a:xfrm>
              <a:off x="919789" y="378718"/>
              <a:ext cx="1719130" cy="7293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Registrar y organizar los usuarios del spa, con su respectiva </a:t>
              </a:r>
              <a:r>
                <a:rPr lang="en-US" sz="1200">
                  <a:solidFill>
                    <a:schemeClr val="dk1"/>
                  </a:solidFill>
                  <a:latin typeface="Times New Roman"/>
                  <a:ea typeface="Times New Roman"/>
                  <a:cs typeface="Times New Roman"/>
                  <a:sym typeface="Times New Roman"/>
                </a:rPr>
                <a:t>asignación</a:t>
              </a:r>
              <a:r>
                <a:rPr lang="en-US" sz="1200">
                  <a:solidFill>
                    <a:schemeClr val="dk1"/>
                  </a:solidFill>
                  <a:latin typeface="Times New Roman"/>
                  <a:ea typeface="Times New Roman"/>
                  <a:cs typeface="Times New Roman"/>
                  <a:sym typeface="Times New Roman"/>
                </a:rPr>
                <a:t> de roles</a:t>
              </a:r>
              <a:endParaRPr b="0" i="0" sz="1200" u="none" cap="none" strike="noStrike">
                <a:solidFill>
                  <a:schemeClr val="dk1"/>
                </a:solidFill>
                <a:latin typeface="Times New Roman"/>
                <a:ea typeface="Times New Roman"/>
                <a:cs typeface="Times New Roman"/>
                <a:sym typeface="Times New Roman"/>
              </a:endParaRPr>
            </a:p>
          </p:txBody>
        </p:sp>
        <p:sp>
          <p:nvSpPr>
            <p:cNvPr id="157" name="Google Shape;157;p8"/>
            <p:cNvSpPr/>
            <p:nvPr/>
          </p:nvSpPr>
          <p:spPr>
            <a:xfrm>
              <a:off x="2938465" y="378718"/>
              <a:ext cx="729328" cy="729328"/>
            </a:xfrm>
            <a:prstGeom prst="ellipse">
              <a:avLst/>
            </a:prstGeom>
            <a:solidFill>
              <a:srgbClr val="CCD3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8"/>
            <p:cNvSpPr/>
            <p:nvPr/>
          </p:nvSpPr>
          <p:spPr>
            <a:xfrm>
              <a:off x="3091624" y="531877"/>
              <a:ext cx="423010" cy="423010"/>
            </a:xfrm>
            <a:prstGeom prst="rect">
              <a:avLst/>
            </a:prstGeom>
            <a:blipFill rotWithShape="1">
              <a:blip r:embed="rId5">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8"/>
            <p:cNvSpPr/>
            <p:nvPr/>
          </p:nvSpPr>
          <p:spPr>
            <a:xfrm>
              <a:off x="3824078" y="378718"/>
              <a:ext cx="1719130" cy="72932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8"/>
            <p:cNvSpPr txBox="1"/>
            <p:nvPr/>
          </p:nvSpPr>
          <p:spPr>
            <a:xfrm>
              <a:off x="3824078" y="378718"/>
              <a:ext cx="1719130" cy="7293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p</a:t>
              </a:r>
              <a:r>
                <a:rPr lang="en-US" sz="1200">
                  <a:solidFill>
                    <a:schemeClr val="dk1"/>
                  </a:solidFill>
                  <a:latin typeface="Times New Roman"/>
                  <a:ea typeface="Times New Roman"/>
                  <a:cs typeface="Times New Roman"/>
                  <a:sym typeface="Times New Roman"/>
                </a:rPr>
                <a:t>ermitir al administrador la gestión</a:t>
              </a:r>
              <a:r>
                <a:rPr lang="en-US" sz="1200">
                  <a:solidFill>
                    <a:schemeClr val="dk1"/>
                  </a:solidFill>
                  <a:latin typeface="Times New Roman"/>
                  <a:ea typeface="Times New Roman"/>
                  <a:cs typeface="Times New Roman"/>
                  <a:sym typeface="Times New Roman"/>
                </a:rPr>
                <a:t> de sus empleados y los horarios de estos</a:t>
              </a:r>
              <a:endParaRPr b="0" i="0" sz="1200" u="none" cap="none" strike="noStrike">
                <a:solidFill>
                  <a:schemeClr val="dk1"/>
                </a:solidFill>
                <a:latin typeface="Times New Roman"/>
                <a:ea typeface="Times New Roman"/>
                <a:cs typeface="Times New Roman"/>
                <a:sym typeface="Times New Roman"/>
              </a:endParaRPr>
            </a:p>
          </p:txBody>
        </p:sp>
        <p:sp>
          <p:nvSpPr>
            <p:cNvPr id="161" name="Google Shape;161;p8"/>
            <p:cNvSpPr/>
            <p:nvPr/>
          </p:nvSpPr>
          <p:spPr>
            <a:xfrm>
              <a:off x="34176" y="1866715"/>
              <a:ext cx="729328" cy="729328"/>
            </a:xfrm>
            <a:prstGeom prst="ellipse">
              <a:avLst/>
            </a:prstGeom>
            <a:solidFill>
              <a:srgbClr val="CCD3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8"/>
            <p:cNvSpPr/>
            <p:nvPr/>
          </p:nvSpPr>
          <p:spPr>
            <a:xfrm>
              <a:off x="187335" y="2019874"/>
              <a:ext cx="423010" cy="423010"/>
            </a:xfrm>
            <a:prstGeom prst="rect">
              <a:avLst/>
            </a:prstGeom>
            <a:blipFill rotWithShape="1">
              <a:blip r:embed="rId6">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8"/>
            <p:cNvSpPr/>
            <p:nvPr/>
          </p:nvSpPr>
          <p:spPr>
            <a:xfrm>
              <a:off x="870665" y="1866715"/>
              <a:ext cx="2000260" cy="72932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8"/>
            <p:cNvSpPr txBox="1"/>
            <p:nvPr/>
          </p:nvSpPr>
          <p:spPr>
            <a:xfrm>
              <a:off x="870665" y="1866715"/>
              <a:ext cx="2000260" cy="7293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Permitira agendar citas, validado disponibilidad del trabajador</a:t>
              </a:r>
              <a:endParaRPr b="0" i="0" sz="1400" u="none" cap="none" strike="noStrike">
                <a:solidFill>
                  <a:srgbClr val="000000"/>
                </a:solidFill>
                <a:latin typeface="Arial"/>
                <a:ea typeface="Arial"/>
                <a:cs typeface="Arial"/>
                <a:sym typeface="Arial"/>
              </a:endParaRPr>
            </a:p>
          </p:txBody>
        </p:sp>
        <p:sp>
          <p:nvSpPr>
            <p:cNvPr id="165" name="Google Shape;165;p8"/>
            <p:cNvSpPr/>
            <p:nvPr/>
          </p:nvSpPr>
          <p:spPr>
            <a:xfrm>
              <a:off x="3079030" y="1866715"/>
              <a:ext cx="729328" cy="729328"/>
            </a:xfrm>
            <a:prstGeom prst="ellipse">
              <a:avLst/>
            </a:prstGeom>
            <a:solidFill>
              <a:srgbClr val="CCD3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8"/>
            <p:cNvSpPr/>
            <p:nvPr/>
          </p:nvSpPr>
          <p:spPr>
            <a:xfrm>
              <a:off x="3222028" y="2019874"/>
              <a:ext cx="423010" cy="423010"/>
            </a:xfrm>
            <a:prstGeom prst="rect">
              <a:avLst/>
            </a:prstGeom>
            <a:blipFill rotWithShape="1">
              <a:blip r:embed="rId7">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8"/>
            <p:cNvSpPr/>
            <p:nvPr/>
          </p:nvSpPr>
          <p:spPr>
            <a:xfrm>
              <a:off x="3964643" y="1866715"/>
              <a:ext cx="1719130" cy="72932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8"/>
            <p:cNvSpPr txBox="1"/>
            <p:nvPr/>
          </p:nvSpPr>
          <p:spPr>
            <a:xfrm>
              <a:off x="3923193" y="1866715"/>
              <a:ext cx="1719000" cy="729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Permitir una </a:t>
              </a:r>
              <a:r>
                <a:rPr lang="en-US" sz="1200">
                  <a:solidFill>
                    <a:schemeClr val="dk1"/>
                  </a:solidFill>
                  <a:latin typeface="Times New Roman"/>
                  <a:ea typeface="Times New Roman"/>
                  <a:cs typeface="Times New Roman"/>
                  <a:sym typeface="Times New Roman"/>
                </a:rPr>
                <a:t>gestión</a:t>
              </a:r>
              <a:r>
                <a:rPr lang="en-US" sz="1200">
                  <a:solidFill>
                    <a:schemeClr val="dk1"/>
                  </a:solidFill>
                  <a:latin typeface="Times New Roman"/>
                  <a:ea typeface="Times New Roman"/>
                  <a:cs typeface="Times New Roman"/>
                  <a:sym typeface="Times New Roman"/>
                </a:rPr>
                <a:t> </a:t>
              </a:r>
              <a:r>
                <a:rPr lang="en-US" sz="1200">
                  <a:solidFill>
                    <a:schemeClr val="dk1"/>
                  </a:solidFill>
                  <a:latin typeface="Times New Roman"/>
                  <a:ea typeface="Times New Roman"/>
                  <a:cs typeface="Times New Roman"/>
                  <a:sym typeface="Times New Roman"/>
                </a:rPr>
                <a:t>más</a:t>
              </a:r>
              <a:r>
                <a:rPr lang="en-US" sz="1200">
                  <a:solidFill>
                    <a:schemeClr val="dk1"/>
                  </a:solidFill>
                  <a:latin typeface="Times New Roman"/>
                  <a:ea typeface="Times New Roman"/>
                  <a:cs typeface="Times New Roman"/>
                  <a:sym typeface="Times New Roman"/>
                </a:rPr>
                <a:t> ordenada de los insumos utilizados en los servicios</a:t>
              </a:r>
              <a:endParaRPr b="0" i="0" sz="1200" u="none" cap="none" strike="noStrike">
                <a:solidFill>
                  <a:schemeClr val="dk1"/>
                </a:solidFill>
                <a:latin typeface="Times New Roman"/>
                <a:ea typeface="Times New Roman"/>
                <a:cs typeface="Times New Roman"/>
                <a:sym typeface="Times New Roman"/>
              </a:endParaRPr>
            </a:p>
          </p:txBody>
        </p:sp>
        <p:sp>
          <p:nvSpPr>
            <p:cNvPr id="169" name="Google Shape;169;p8"/>
            <p:cNvSpPr/>
            <p:nvPr/>
          </p:nvSpPr>
          <p:spPr>
            <a:xfrm>
              <a:off x="34176" y="3354713"/>
              <a:ext cx="729328" cy="729328"/>
            </a:xfrm>
            <a:prstGeom prst="ellipse">
              <a:avLst/>
            </a:prstGeom>
            <a:solidFill>
              <a:srgbClr val="CCD3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8"/>
            <p:cNvSpPr/>
            <p:nvPr/>
          </p:nvSpPr>
          <p:spPr>
            <a:xfrm>
              <a:off x="187335" y="3507872"/>
              <a:ext cx="423010" cy="423010"/>
            </a:xfrm>
            <a:prstGeom prst="rect">
              <a:avLst/>
            </a:prstGeom>
            <a:blipFill rotWithShape="1">
              <a:blip r:embed="rId8">
                <a:alphaModFix/>
              </a:blip>
              <a:stretch>
                <a:fillRect b="0" l="0" r="0"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8"/>
            <p:cNvSpPr/>
            <p:nvPr/>
          </p:nvSpPr>
          <p:spPr>
            <a:xfrm>
              <a:off x="797988" y="3334394"/>
              <a:ext cx="2181474" cy="72932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8"/>
            <p:cNvSpPr txBox="1"/>
            <p:nvPr/>
          </p:nvSpPr>
          <p:spPr>
            <a:xfrm>
              <a:off x="797988" y="3334394"/>
              <a:ext cx="2181474" cy="7293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Times New Roman"/>
                <a:buNone/>
              </a:pPr>
              <a:r>
                <a:rPr lang="en-US" sz="1200">
                  <a:solidFill>
                    <a:schemeClr val="dk1"/>
                  </a:solidFill>
                  <a:latin typeface="Times New Roman"/>
                  <a:ea typeface="Times New Roman"/>
                  <a:cs typeface="Times New Roman"/>
                  <a:sym typeface="Times New Roman"/>
                </a:rPr>
                <a:t>Generar de manera </a:t>
              </a:r>
              <a:r>
                <a:rPr lang="en-US" sz="1200">
                  <a:solidFill>
                    <a:schemeClr val="dk1"/>
                  </a:solidFill>
                  <a:latin typeface="Times New Roman"/>
                  <a:ea typeface="Times New Roman"/>
                  <a:cs typeface="Times New Roman"/>
                  <a:sym typeface="Times New Roman"/>
                </a:rPr>
                <a:t>automática</a:t>
              </a:r>
              <a:r>
                <a:rPr lang="en-US" sz="1200">
                  <a:solidFill>
                    <a:schemeClr val="dk1"/>
                  </a:solidFill>
                  <a:latin typeface="Times New Roman"/>
                  <a:ea typeface="Times New Roman"/>
                  <a:cs typeface="Times New Roman"/>
                  <a:sym typeface="Times New Roman"/>
                </a:rPr>
                <a:t> y verificada recibos para los servicios prestados por el spa</a:t>
              </a:r>
              <a:endParaRPr b="0" i="0" sz="1200" u="none" cap="none" strike="noStrike">
                <a:solidFill>
                  <a:schemeClr val="dk1"/>
                </a:solidFill>
                <a:latin typeface="Times New Roman"/>
                <a:ea typeface="Times New Roman"/>
                <a:cs typeface="Times New Roman"/>
                <a:sym typeface="Times New Roman"/>
              </a:endParaRPr>
            </a:p>
          </p:txBody>
        </p:sp>
      </p:grpSp>
      <p:pic>
        <p:nvPicPr>
          <p:cNvPr descr="Patrón de fondo&#10;&#10;El contenido generado por IA puede ser incorrecto." id="173" name="Google Shape;173;p8"/>
          <p:cNvPicPr preferRelativeResize="0"/>
          <p:nvPr/>
        </p:nvPicPr>
        <p:blipFill rotWithShape="1">
          <a:blip r:embed="rId9">
            <a:alphaModFix/>
          </a:blip>
          <a:srcRect b="0" l="0" r="0" t="0"/>
          <a:stretch/>
        </p:blipFill>
        <p:spPr>
          <a:xfrm>
            <a:off x="697976" y="0"/>
            <a:ext cx="4111444" cy="6858000"/>
          </a:xfrm>
          <a:prstGeom prst="ellipse">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9"/>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9" name="Google Shape;179;p9"/>
          <p:cNvSpPr txBox="1"/>
          <p:nvPr/>
        </p:nvSpPr>
        <p:spPr>
          <a:xfrm>
            <a:off x="5297762" y="329184"/>
            <a:ext cx="6251110" cy="1783080"/>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5400"/>
              <a:buFont typeface="Arial"/>
              <a:buNone/>
            </a:pPr>
            <a:r>
              <a:rPr b="1" i="0" lang="en-US" sz="5400" u="none" cap="none" strike="noStrike">
                <a:solidFill>
                  <a:schemeClr val="dk1"/>
                </a:solidFill>
                <a:latin typeface="Comic Sans MS"/>
                <a:ea typeface="Comic Sans MS"/>
                <a:cs typeface="Comic Sans MS"/>
                <a:sym typeface="Comic Sans MS"/>
              </a:rPr>
              <a:t>Alcance del</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600"/>
              </a:spcBef>
              <a:spcAft>
                <a:spcPts val="0"/>
              </a:spcAft>
              <a:buClr>
                <a:srgbClr val="000000"/>
              </a:buClr>
              <a:buSzPts val="5400"/>
              <a:buFont typeface="Arial"/>
              <a:buNone/>
            </a:pPr>
            <a:r>
              <a:rPr b="1" i="0" lang="en-US" sz="5400" u="none" cap="none" strike="noStrike">
                <a:solidFill>
                  <a:schemeClr val="dk1"/>
                </a:solidFill>
                <a:latin typeface="Comic Sans MS"/>
                <a:ea typeface="Comic Sans MS"/>
                <a:cs typeface="Comic Sans MS"/>
                <a:sym typeface="Comic Sans MS"/>
              </a:rPr>
              <a:t>Proyecto</a:t>
            </a:r>
            <a:endParaRPr b="1" i="0" sz="5400" u="none" cap="none" strike="noStrike">
              <a:solidFill>
                <a:schemeClr val="dk1"/>
              </a:solidFill>
              <a:latin typeface="Comic Sans MS"/>
              <a:ea typeface="Comic Sans MS"/>
              <a:cs typeface="Comic Sans MS"/>
              <a:sym typeface="Comic Sans MS"/>
            </a:endParaRPr>
          </a:p>
        </p:txBody>
      </p:sp>
      <p:pic>
        <p:nvPicPr>
          <p:cNvPr descr="Diagrama&#10;&#10;El contenido generado por IA puede ser incorrecto." id="180" name="Google Shape;180;p9"/>
          <p:cNvPicPr preferRelativeResize="0"/>
          <p:nvPr/>
        </p:nvPicPr>
        <p:blipFill rotWithShape="1">
          <a:blip r:embed="rId3">
            <a:alphaModFix/>
          </a:blip>
          <a:srcRect b="17170" l="0" r="-1" t="0"/>
          <a:stretch/>
        </p:blipFill>
        <p:spPr>
          <a:xfrm>
            <a:off x="0" y="-9515"/>
            <a:ext cx="4657344" cy="6857990"/>
          </a:xfrm>
          <a:custGeom>
            <a:rect b="b" l="l" r="r" t="t"/>
            <a:pathLst>
              <a:path extrusionOk="0" h="6858000" w="4657344">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a:noFill/>
          <a:ln>
            <a:noFill/>
          </a:ln>
        </p:spPr>
      </p:pic>
      <p:sp>
        <p:nvSpPr>
          <p:cNvPr id="181" name="Google Shape;181;p9"/>
          <p:cNvSpPr/>
          <p:nvPr/>
        </p:nvSpPr>
        <p:spPr>
          <a:xfrm>
            <a:off x="5297762" y="2374947"/>
            <a:ext cx="4243589" cy="18288"/>
          </a:xfrm>
          <a:custGeom>
            <a:rect b="b" l="l" r="r" t="t"/>
            <a:pathLst>
              <a:path extrusionOk="0" fill="none" h="18288" w="4243589">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extrusionOk="0" h="18288" w="4243589">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2" name="Google Shape;182;p9"/>
          <p:cNvSpPr txBox="1"/>
          <p:nvPr/>
        </p:nvSpPr>
        <p:spPr>
          <a:xfrm>
            <a:off x="9985925" y="2614560"/>
            <a:ext cx="1562778" cy="11198543"/>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200"/>
              <a:buFont typeface="Arial"/>
              <a:buNone/>
            </a:pPr>
            <a:r>
              <a:t/>
            </a:r>
            <a:endParaRPr b="1" i="0" sz="2200" u="none" cap="none" strike="noStrike">
              <a:solidFill>
                <a:schemeClr val="dk1"/>
              </a:solidFill>
              <a:latin typeface="Times New Roman"/>
              <a:ea typeface="Times New Roman"/>
              <a:cs typeface="Times New Roman"/>
              <a:sym typeface="Times New Roman"/>
            </a:endParaRPr>
          </a:p>
          <a:p>
            <a:pPr indent="139700" lvl="0" marL="0" marR="0" rtl="0" algn="l">
              <a:lnSpc>
                <a:spcPct val="90000"/>
              </a:lnSpc>
              <a:spcBef>
                <a:spcPts val="600"/>
              </a:spcBef>
              <a:spcAft>
                <a:spcPts val="0"/>
              </a:spcAft>
              <a:buClr>
                <a:schemeClr val="dk1"/>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90000"/>
              </a:lnSpc>
              <a:spcBef>
                <a:spcPts val="60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p:txBody>
      </p:sp>
      <p:sp>
        <p:nvSpPr>
          <p:cNvPr id="183" name="Google Shape;183;p9"/>
          <p:cNvSpPr/>
          <p:nvPr/>
        </p:nvSpPr>
        <p:spPr>
          <a:xfrm>
            <a:off x="5412862" y="3146963"/>
            <a:ext cx="6436237" cy="230832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Durante siete trimestres se desarrollará un sistema de información diseñado para optimizar la gestión del SPA NEW BOYS, facilitando la comunicación entre el cliente y el establecimiento al momento de agendar los servicios. Además, el sistema permitirá organizar los horarios, registrar los servicios realizados por cada profesional y apoyar el control del inventario.</a:t>
            </a:r>
            <a:endParaRPr b="1" i="0" sz="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7" name="Shape 187"/>
        <p:cNvGrpSpPr/>
        <p:nvPr/>
      </p:nvGrpSpPr>
      <p:grpSpPr>
        <a:xfrm>
          <a:off x="0" y="0"/>
          <a:ext cx="0" cy="0"/>
          <a:chOff x="0" y="0"/>
          <a:chExt cx="0" cy="0"/>
        </a:xfrm>
      </p:grpSpPr>
      <p:cxnSp>
        <p:nvCxnSpPr>
          <p:cNvPr id="188" name="Google Shape;188;p12"/>
          <p:cNvCxnSpPr/>
          <p:nvPr/>
        </p:nvCxnSpPr>
        <p:spPr>
          <a:xfrm>
            <a:off x="4972228" y="4092162"/>
            <a:ext cx="2247544" cy="0"/>
          </a:xfrm>
          <a:prstGeom prst="straightConnector1">
            <a:avLst/>
          </a:prstGeom>
          <a:noFill/>
          <a:ln cap="flat" cmpd="sng" w="12700">
            <a:solidFill>
              <a:schemeClr val="lt1"/>
            </a:solidFill>
            <a:prstDash val="solid"/>
            <a:miter lim="800000"/>
            <a:headEnd len="sm" w="sm" type="none"/>
            <a:tailEnd len="sm" w="sm" type="none"/>
          </a:ln>
        </p:spPr>
      </p:cxnSp>
      <p:sp>
        <p:nvSpPr>
          <p:cNvPr id="189" name="Google Shape;189;p12"/>
          <p:cNvSpPr txBox="1"/>
          <p:nvPr/>
        </p:nvSpPr>
        <p:spPr>
          <a:xfrm>
            <a:off x="1252125" y="3096373"/>
            <a:ext cx="9815809" cy="52787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5400"/>
              <a:buFont typeface="Comic Sans MS"/>
              <a:buNone/>
            </a:pPr>
            <a:r>
              <a:rPr b="1" i="0" lang="en-US" sz="5400" u="none" cap="none" strike="noStrike">
                <a:solidFill>
                  <a:schemeClr val="dk1"/>
                </a:solidFill>
                <a:latin typeface="Comic Sans MS"/>
                <a:ea typeface="Comic Sans MS"/>
                <a:cs typeface="Comic Sans MS"/>
                <a:sym typeface="Comic Sans MS"/>
              </a:rPr>
              <a:t>Diagrama Procesos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g3b0cc1124e2_0_0"/>
          <p:cNvPicPr preferRelativeResize="0"/>
          <p:nvPr/>
        </p:nvPicPr>
        <p:blipFill rotWithShape="1">
          <a:blip r:embed="rId3">
            <a:alphaModFix/>
          </a:blip>
          <a:srcRect b="0" l="0" r="0" t="0"/>
          <a:stretch/>
        </p:blipFill>
        <p:spPr>
          <a:xfrm>
            <a:off x="0" y="813415"/>
            <a:ext cx="12192000" cy="523116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9" name="Shape 199"/>
        <p:cNvGrpSpPr/>
        <p:nvPr/>
      </p:nvGrpSpPr>
      <p:grpSpPr>
        <a:xfrm>
          <a:off x="0" y="0"/>
          <a:ext cx="0" cy="0"/>
          <a:chOff x="0" y="0"/>
          <a:chExt cx="0" cy="0"/>
        </a:xfrm>
      </p:grpSpPr>
      <p:cxnSp>
        <p:nvCxnSpPr>
          <p:cNvPr id="200" name="Google Shape;200;g391c78eebce_0_4"/>
          <p:cNvCxnSpPr/>
          <p:nvPr/>
        </p:nvCxnSpPr>
        <p:spPr>
          <a:xfrm>
            <a:off x="4972228" y="4092162"/>
            <a:ext cx="2247600" cy="0"/>
          </a:xfrm>
          <a:prstGeom prst="straightConnector1">
            <a:avLst/>
          </a:prstGeom>
          <a:noFill/>
          <a:ln cap="flat" cmpd="sng" w="12700">
            <a:solidFill>
              <a:schemeClr val="lt1"/>
            </a:solidFill>
            <a:prstDash val="solid"/>
            <a:miter lim="800000"/>
            <a:headEnd len="sm" w="sm" type="none"/>
            <a:tailEnd len="sm" w="sm" type="none"/>
          </a:ln>
        </p:spPr>
      </p:cxnSp>
      <p:sp>
        <p:nvSpPr>
          <p:cNvPr id="201" name="Google Shape;201;g391c78eebce_0_4"/>
          <p:cNvSpPr txBox="1"/>
          <p:nvPr/>
        </p:nvSpPr>
        <p:spPr>
          <a:xfrm>
            <a:off x="1252125" y="3096373"/>
            <a:ext cx="9815700" cy="5280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5400"/>
              <a:buFont typeface="Comic Sans MS"/>
              <a:buNone/>
            </a:pPr>
            <a:r>
              <a:rPr b="1" i="0" lang="en-US" sz="5400" u="none" cap="none" strike="noStrike">
                <a:solidFill>
                  <a:schemeClr val="dk1"/>
                </a:solidFill>
                <a:latin typeface="Comic Sans MS"/>
                <a:ea typeface="Comic Sans MS"/>
                <a:cs typeface="Comic Sans MS"/>
                <a:sym typeface="Comic Sans MS"/>
              </a:rPr>
              <a:t>Recolección de Datos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g391c78eebce_0_9"/>
          <p:cNvSpPr/>
          <p:nvPr/>
        </p:nvSpPr>
        <p:spPr>
          <a:xfrm>
            <a:off x="0" y="0"/>
            <a:ext cx="12189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7" name="Google Shape;207;g391c78eebce_0_9"/>
          <p:cNvSpPr txBox="1"/>
          <p:nvPr/>
        </p:nvSpPr>
        <p:spPr>
          <a:xfrm>
            <a:off x="471550" y="189614"/>
            <a:ext cx="4368600" cy="195690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000000"/>
              </a:buClr>
              <a:buSzPts val="4800"/>
              <a:buFont typeface="Arial"/>
              <a:buNone/>
            </a:pPr>
            <a:r>
              <a:rPr b="1" i="0" lang="en-US" sz="4800" u="none" cap="none" strike="noStrike">
                <a:solidFill>
                  <a:schemeClr val="dk1"/>
                </a:solidFill>
                <a:latin typeface="Comic Sans MS"/>
                <a:ea typeface="Comic Sans MS"/>
                <a:cs typeface="Comic Sans MS"/>
                <a:sym typeface="Comic Sans MS"/>
              </a:rPr>
              <a:t>Encuesta</a:t>
            </a:r>
            <a:endParaRPr b="1" i="0" sz="4800" u="none" cap="none" strike="noStrike">
              <a:solidFill>
                <a:schemeClr val="dk1"/>
              </a:solidFill>
              <a:latin typeface="Comic Sans MS"/>
              <a:ea typeface="Comic Sans MS"/>
              <a:cs typeface="Comic Sans MS"/>
              <a:sym typeface="Comic Sans MS"/>
            </a:endParaRPr>
          </a:p>
        </p:txBody>
      </p:sp>
      <p:sp>
        <p:nvSpPr>
          <p:cNvPr id="208" name="Google Shape;208;g391c78eebce_0_9"/>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9" name="Google Shape;209;g391c78eebce_0_9"/>
          <p:cNvSpPr txBox="1"/>
          <p:nvPr/>
        </p:nvSpPr>
        <p:spPr>
          <a:xfrm>
            <a:off x="369917" y="2841726"/>
            <a:ext cx="4243500" cy="33207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1900"/>
              <a:buFont typeface="Arial"/>
              <a:buNone/>
            </a:pPr>
            <a:r>
              <a:t/>
            </a:r>
            <a:endParaRPr b="0" i="0" sz="1900" u="none" cap="none" strike="noStrike">
              <a:solidFill>
                <a:schemeClr val="dk1"/>
              </a:solidFill>
              <a:latin typeface="Times New Roman"/>
              <a:ea typeface="Times New Roman"/>
              <a:cs typeface="Times New Roman"/>
              <a:sym typeface="Times New Roman"/>
            </a:endParaRPr>
          </a:p>
        </p:txBody>
      </p:sp>
      <p:pic>
        <p:nvPicPr>
          <p:cNvPr id="210" name="Google Shape;210;g391c78eebce_0_9"/>
          <p:cNvPicPr preferRelativeResize="0"/>
          <p:nvPr/>
        </p:nvPicPr>
        <p:blipFill rotWithShape="1">
          <a:blip r:embed="rId3">
            <a:alphaModFix/>
          </a:blip>
          <a:srcRect b="8506" l="0" r="0" t="31674"/>
          <a:stretch/>
        </p:blipFill>
        <p:spPr>
          <a:xfrm>
            <a:off x="5311702" y="10"/>
            <a:ext cx="6878775" cy="685800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
        <p:nvSpPr>
          <p:cNvPr id="211" name="Google Shape;211;g391c78eebce_0_9"/>
          <p:cNvSpPr/>
          <p:nvPr/>
        </p:nvSpPr>
        <p:spPr>
          <a:xfrm>
            <a:off x="369917" y="2837920"/>
            <a:ext cx="4803600" cy="397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Se realizaron dos encuestas en el spa: una dirigida a los trabajadores y otra a los clientes, con el fin de identificar y analizar las principales problemáticas presentes desde ambas perspectivas. Al analizar los resultados obtenidos de estas encuestas, nos podemos dar cuenta que la mayor parte de los clientes están de acuerdo con la necesidad de implementar este tipo de sistemas en el spa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5" name="Shape 215"/>
        <p:cNvGrpSpPr/>
        <p:nvPr/>
      </p:nvGrpSpPr>
      <p:grpSpPr>
        <a:xfrm>
          <a:off x="0" y="0"/>
          <a:ext cx="0" cy="0"/>
          <a:chOff x="0" y="0"/>
          <a:chExt cx="0" cy="0"/>
        </a:xfrm>
      </p:grpSpPr>
      <p:cxnSp>
        <p:nvCxnSpPr>
          <p:cNvPr id="216" name="Google Shape;216;g391c78eebce_0_18"/>
          <p:cNvCxnSpPr/>
          <p:nvPr/>
        </p:nvCxnSpPr>
        <p:spPr>
          <a:xfrm>
            <a:off x="4972228" y="4092162"/>
            <a:ext cx="2247600" cy="0"/>
          </a:xfrm>
          <a:prstGeom prst="straightConnector1">
            <a:avLst/>
          </a:prstGeom>
          <a:noFill/>
          <a:ln cap="flat" cmpd="sng" w="12700">
            <a:solidFill>
              <a:schemeClr val="lt1"/>
            </a:solidFill>
            <a:prstDash val="solid"/>
            <a:miter lim="800000"/>
            <a:headEnd len="sm" w="sm" type="none"/>
            <a:tailEnd len="sm" w="sm" type="none"/>
          </a:ln>
        </p:spPr>
      </p:cxnSp>
      <p:sp>
        <p:nvSpPr>
          <p:cNvPr id="217" name="Google Shape;217;g391c78eebce_0_18"/>
          <p:cNvSpPr txBox="1"/>
          <p:nvPr/>
        </p:nvSpPr>
        <p:spPr>
          <a:xfrm>
            <a:off x="1252125" y="3096373"/>
            <a:ext cx="9815700" cy="5280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5400"/>
              <a:buFont typeface="Comic Sans MS"/>
              <a:buNone/>
            </a:pPr>
            <a:r>
              <a:rPr b="1" i="0" lang="en-US" sz="5400" u="none" cap="none" strike="noStrike">
                <a:solidFill>
                  <a:schemeClr val="dk1"/>
                </a:solidFill>
                <a:latin typeface="Comic Sans MS"/>
                <a:ea typeface="Comic Sans MS"/>
                <a:cs typeface="Comic Sans MS"/>
                <a:sym typeface="Comic Sans MS"/>
              </a:rPr>
              <a:t>Requerimientos</a:t>
            </a:r>
            <a:endParaRPr b="1" i="0" sz="5400" u="none" cap="none" strike="noStrike">
              <a:solidFill>
                <a:schemeClr val="dk1"/>
              </a:solidFill>
              <a:latin typeface="Comic Sans MS"/>
              <a:ea typeface="Comic Sans MS"/>
              <a:cs typeface="Comic Sans MS"/>
              <a:sym typeface="Comic Sans MS"/>
            </a:endParaRPr>
          </a:p>
          <a:p>
            <a:pPr indent="0" lvl="0" marL="0" marR="0" rtl="0" algn="l">
              <a:lnSpc>
                <a:spcPct val="90000"/>
              </a:lnSpc>
              <a:spcBef>
                <a:spcPts val="0"/>
              </a:spcBef>
              <a:spcAft>
                <a:spcPts val="0"/>
              </a:spcAft>
              <a:buClr>
                <a:schemeClr val="dk1"/>
              </a:buClr>
              <a:buSzPts val="5400"/>
              <a:buFont typeface="Comic Sans MS"/>
              <a:buNone/>
            </a:pPr>
            <a:r>
              <a:t/>
            </a:r>
            <a:endParaRPr b="1" i="0" sz="5400" u="none" cap="none" strike="noStrike">
              <a:solidFill>
                <a:schemeClr val="dk1"/>
              </a:solidFill>
              <a:latin typeface="Comic Sans MS"/>
              <a:ea typeface="Comic Sans MS"/>
              <a:cs typeface="Comic Sans MS"/>
              <a:sym typeface="Comic Sans M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1" name="Shape 221"/>
        <p:cNvGrpSpPr/>
        <p:nvPr/>
      </p:nvGrpSpPr>
      <p:grpSpPr>
        <a:xfrm>
          <a:off x="0" y="0"/>
          <a:ext cx="0" cy="0"/>
          <a:chOff x="0" y="0"/>
          <a:chExt cx="0" cy="0"/>
        </a:xfrm>
      </p:grpSpPr>
      <p:sp>
        <p:nvSpPr>
          <p:cNvPr id="222" name="Google Shape;222;p1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3" name="Google Shape;223;p10"/>
          <p:cNvSpPr/>
          <p:nvPr/>
        </p:nvSpPr>
        <p:spPr>
          <a:xfrm flipH="1" rot="-2700000">
            <a:off x="-376156" y="-253670"/>
            <a:ext cx="1827638" cy="1376989"/>
          </a:xfrm>
          <a:custGeom>
            <a:rect b="b" l="l" r="r" t="t"/>
            <a:pathLst>
              <a:path extrusionOk="0" h="1376989" w="1827638">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4" name="Google Shape;224;p10"/>
          <p:cNvSpPr/>
          <p:nvPr/>
        </p:nvSpPr>
        <p:spPr>
          <a:xfrm flipH="1" rot="-2700000">
            <a:off x="891641" y="422146"/>
            <a:ext cx="645368" cy="64536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5" name="Google Shape;225;p10"/>
          <p:cNvSpPr/>
          <p:nvPr/>
        </p:nvSpPr>
        <p:spPr>
          <a:xfrm flipH="1" rot="-2700000">
            <a:off x="10043482" y="655140"/>
            <a:ext cx="687472" cy="687472"/>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6" name="Google Shape;226;p10"/>
          <p:cNvSpPr/>
          <p:nvPr/>
        </p:nvSpPr>
        <p:spPr>
          <a:xfrm flipH="1" rot="10800000">
            <a:off x="9356643" y="0"/>
            <a:ext cx="2835357" cy="1480837"/>
          </a:xfrm>
          <a:custGeom>
            <a:rect b="b" l="l" r="r" t="t"/>
            <a:pathLst>
              <a:path extrusionOk="0" h="1480837" w="2835357">
                <a:moveTo>
                  <a:pt x="2835357" y="1480837"/>
                </a:moveTo>
                <a:lnTo>
                  <a:pt x="0" y="1480837"/>
                </a:lnTo>
                <a:lnTo>
                  <a:pt x="1552727" y="0"/>
                </a:lnTo>
                <a:lnTo>
                  <a:pt x="2835357" y="1223245"/>
                </a:lnTo>
                <a:close/>
              </a:path>
            </a:pathLst>
          </a:cu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7" name="Google Shape;227;p10"/>
          <p:cNvSpPr/>
          <p:nvPr/>
        </p:nvSpPr>
        <p:spPr>
          <a:xfrm flipH="1">
            <a:off x="7976344" y="6115501"/>
            <a:ext cx="1494513" cy="742499"/>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Calendario&#10;&#10;El contenido generado por IA puede ser incorrecto." id="228" name="Google Shape;228;p10"/>
          <p:cNvPicPr preferRelativeResize="0"/>
          <p:nvPr/>
        </p:nvPicPr>
        <p:blipFill rotWithShape="1">
          <a:blip r:embed="rId3">
            <a:alphaModFix/>
          </a:blip>
          <a:srcRect b="0" l="0" r="0" t="0"/>
          <a:stretch/>
        </p:blipFill>
        <p:spPr>
          <a:xfrm>
            <a:off x="643467" y="948097"/>
            <a:ext cx="10905066" cy="4961804"/>
          </a:xfrm>
          <a:prstGeom prst="rect">
            <a:avLst/>
          </a:prstGeom>
          <a:noFill/>
          <a:ln>
            <a:noFill/>
          </a:ln>
        </p:spPr>
      </p:pic>
      <p:sp>
        <p:nvSpPr>
          <p:cNvPr id="229" name="Google Shape;229;p10"/>
          <p:cNvSpPr/>
          <p:nvPr/>
        </p:nvSpPr>
        <p:spPr>
          <a:xfrm flipH="1">
            <a:off x="7604080" y="6453143"/>
            <a:ext cx="814903" cy="404857"/>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3" name="Shape 233"/>
        <p:cNvGrpSpPr/>
        <p:nvPr/>
      </p:nvGrpSpPr>
      <p:grpSpPr>
        <a:xfrm>
          <a:off x="0" y="0"/>
          <a:ext cx="0" cy="0"/>
          <a:chOff x="0" y="0"/>
          <a:chExt cx="0" cy="0"/>
        </a:xfrm>
      </p:grpSpPr>
      <p:sp>
        <p:nvSpPr>
          <p:cNvPr id="234" name="Google Shape;234;p1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5" name="Google Shape;235;p11"/>
          <p:cNvSpPr/>
          <p:nvPr/>
        </p:nvSpPr>
        <p:spPr>
          <a:xfrm flipH="1" rot="-2700000">
            <a:off x="-376156" y="-253670"/>
            <a:ext cx="1827638" cy="1376989"/>
          </a:xfrm>
          <a:custGeom>
            <a:rect b="b" l="l" r="r" t="t"/>
            <a:pathLst>
              <a:path extrusionOk="0" h="1376989" w="1827638">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6" name="Google Shape;236;p11"/>
          <p:cNvSpPr/>
          <p:nvPr/>
        </p:nvSpPr>
        <p:spPr>
          <a:xfrm flipH="1" rot="-2700000">
            <a:off x="891641" y="422146"/>
            <a:ext cx="645368" cy="645368"/>
          </a:xfrm>
          <a:prstGeom prst="rect">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7" name="Google Shape;237;p11"/>
          <p:cNvSpPr/>
          <p:nvPr/>
        </p:nvSpPr>
        <p:spPr>
          <a:xfrm flipH="1" rot="-2700000">
            <a:off x="10043482" y="655140"/>
            <a:ext cx="687472" cy="687472"/>
          </a:xfrm>
          <a:prstGeom prst="rect">
            <a:avLst/>
          </a:pr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8" name="Google Shape;238;p11"/>
          <p:cNvSpPr/>
          <p:nvPr/>
        </p:nvSpPr>
        <p:spPr>
          <a:xfrm flipH="1" rot="10800000">
            <a:off x="9356643" y="0"/>
            <a:ext cx="2835357" cy="1480837"/>
          </a:xfrm>
          <a:custGeom>
            <a:rect b="b" l="l" r="r" t="t"/>
            <a:pathLst>
              <a:path extrusionOk="0" h="1480837" w="2835357">
                <a:moveTo>
                  <a:pt x="2835357" y="1480837"/>
                </a:moveTo>
                <a:lnTo>
                  <a:pt x="0" y="1480837"/>
                </a:lnTo>
                <a:lnTo>
                  <a:pt x="1552727" y="0"/>
                </a:lnTo>
                <a:lnTo>
                  <a:pt x="2835357" y="1223245"/>
                </a:lnTo>
                <a:close/>
              </a:path>
            </a:pathLst>
          </a:custGeom>
          <a:solidFill>
            <a:schemeClr val="accent4">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9" name="Google Shape;239;p11"/>
          <p:cNvSpPr/>
          <p:nvPr/>
        </p:nvSpPr>
        <p:spPr>
          <a:xfrm flipH="1">
            <a:off x="7976344" y="6115501"/>
            <a:ext cx="1494513" cy="742499"/>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Tabla&#10;&#10;El contenido generado por IA puede ser incorrecto." id="240" name="Google Shape;240;p11"/>
          <p:cNvPicPr preferRelativeResize="0"/>
          <p:nvPr/>
        </p:nvPicPr>
        <p:blipFill rotWithShape="1">
          <a:blip r:embed="rId3">
            <a:alphaModFix/>
          </a:blip>
          <a:srcRect b="0" l="0" r="0" t="0"/>
          <a:stretch/>
        </p:blipFill>
        <p:spPr>
          <a:xfrm>
            <a:off x="643467" y="920834"/>
            <a:ext cx="10905066" cy="5016331"/>
          </a:xfrm>
          <a:prstGeom prst="rect">
            <a:avLst/>
          </a:prstGeom>
          <a:noFill/>
          <a:ln>
            <a:noFill/>
          </a:ln>
        </p:spPr>
      </p:pic>
      <p:sp>
        <p:nvSpPr>
          <p:cNvPr id="241" name="Google Shape;241;p11"/>
          <p:cNvSpPr/>
          <p:nvPr/>
        </p:nvSpPr>
        <p:spPr>
          <a:xfrm flipH="1">
            <a:off x="7604080" y="6453143"/>
            <a:ext cx="814903" cy="404857"/>
          </a:xfrm>
          <a:prstGeom prst="triangle">
            <a:avLst>
              <a:gd fmla="val 50000" name="adj"/>
            </a:avLst>
          </a:prstGeom>
          <a:solidFill>
            <a:schemeClr val="accent1">
              <a:alpha val="29803"/>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5" name="Shape 24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2020-10-01T23:51:28Z</dcterms:created>
  <dc:creator>Jorge Enrique Pedraza Sanchez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