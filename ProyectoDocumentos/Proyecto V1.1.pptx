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embeddedFontLst>
    <p:embeddedFont>
      <p:font typeface="Work Sans Medium"/>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95">
          <p15:clr>
            <a:srgbClr val="A4A3A4"/>
          </p15:clr>
        </p15:guide>
        <p15:guide id="2" pos="3840">
          <p15:clr>
            <a:srgbClr val="A4A3A4"/>
          </p15:clr>
        </p15:guide>
        <p15:guide id="3" orient="horz" pos="187">
          <p15:clr>
            <a:srgbClr val="A4A3A4"/>
          </p15:clr>
        </p15:guide>
      </p15:sldGuideLst>
    </p:ext>
    <p:ext uri="GoogleSlidesCustomDataVersion2">
      <go:slidesCustomData xmlns:go="http://customooxmlschemas.google.com/" r:id="rId29" roundtripDataSignature="AMtx7mgVsKKCBJXn14e4tnOdKd3ZkHj8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D7D8961-13EA-4BB3-BE33-A12315E0E241}">
  <a:tblStyle styleId="{AD7D8961-13EA-4BB3-BE33-A12315E0E241}" styleName="Table_0">
    <a:wholeTbl>
      <a:tcTxStyle b="off" i="off">
        <a:font>
          <a:latin typeface="Calibri"/>
          <a:ea typeface="Calibri"/>
          <a:cs typeface="Calibri"/>
        </a:font>
        <a:schemeClr val="dk1"/>
      </a:tcTxStyle>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tcBdr>
      </a:tcStyle>
    </a:band1H>
    <a:band2H>
      <a:tcTxStyle b="off" i="off"/>
    </a:band2H>
    <a:band1V>
      <a:tcTxStyle b="off" i="off"/>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cBdr>
      </a:tcStyle>
    </a:band1V>
    <a:band2V>
      <a:tcTxStyle b="off" i="off"/>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6"/>
              </a:solidFill>
              <a:prstDash val="solid"/>
              <a:round/>
              <a:headEnd len="sm" w="sm" type="none"/>
              <a:tailEnd len="sm" w="sm" type="none"/>
            </a:ln>
          </a:top>
        </a:tcBdr>
      </a:tcStyle>
    </a:lastRow>
    <a:seCell>
      <a:tcTxStyle b="off" i="off"/>
    </a:seCell>
    <a:swCell>
      <a:tcTxStyle b="off" i="off"/>
    </a:swCell>
    <a:firstRow>
      <a:tcTxStyle b="on" i="off">
        <a:font>
          <a:latin typeface="Calibri"/>
          <a:ea typeface="Calibri"/>
          <a:cs typeface="Calibri"/>
        </a:font>
        <a:schemeClr val="lt1"/>
      </a:tcTxStyle>
      <a:tcStyle>
        <a:fill>
          <a:solidFill>
            <a:schemeClr val="accent6"/>
          </a:solidFill>
        </a:fill>
      </a:tcStyle>
    </a:firstRow>
    <a:neCell>
      <a:tcTxStyle b="off" i="off"/>
    </a:neCell>
    <a:nwCell>
      <a:tcTxStyle b="off" i="off"/>
    </a:nwCell>
  </a:tblStyle>
  <a:tblStyle styleId="{004FCE26-D7BF-4204-9D85-558F506F53B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5" orient="horz"/>
        <p:guide pos="3840"/>
        <p:guide pos="18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WorkSansMedium-bold.fntdata"/><Relationship Id="rId25" Type="http://schemas.openxmlformats.org/officeDocument/2006/relationships/font" Target="fonts/WorkSansMedium-regular.fntdata"/><Relationship Id="rId28" Type="http://schemas.openxmlformats.org/officeDocument/2006/relationships/font" Target="fonts/WorkSansMedium-boldItalic.fntdata"/><Relationship Id="rId27" Type="http://schemas.openxmlformats.org/officeDocument/2006/relationships/font" Target="fonts/WorkSans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95b38490d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95b38490d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95b38490d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0cc1124e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b0cc1124e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b0cc1124e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1c78eebce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391c78eebce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1c78eebce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g391c78eebce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1c78eebce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391c78eebce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p:nvPr>
            <p:ph idx="2" type="pic"/>
          </p:nvPr>
        </p:nvSpPr>
        <p:spPr>
          <a:xfrm>
            <a:off x="5183188" y="987425"/>
            <a:ext cx="6172200" cy="4873625"/>
          </a:xfrm>
          <a:prstGeom prst="rect">
            <a:avLst/>
          </a:prstGeom>
          <a:noFill/>
          <a:ln>
            <a:noFill/>
          </a:ln>
        </p:spPr>
      </p:sp>
      <p:sp>
        <p:nvSpPr>
          <p:cNvPr id="68" name="Google Shape;68;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84" name="Shape 84"/>
        <p:cNvGrpSpPr/>
        <p:nvPr/>
      </p:nvGrpSpPr>
      <p:grpSpPr>
        <a:xfrm>
          <a:off x="0" y="0"/>
          <a:ext cx="0" cy="0"/>
          <a:chOff x="0" y="0"/>
          <a:chExt cx="0" cy="0"/>
        </a:xfrm>
      </p:grpSpPr>
      <p:sp>
        <p:nvSpPr>
          <p:cNvPr id="85" name="Google Shape;85;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7.jp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9.png"/><Relationship Id="rId8"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
          <p:cNvSpPr txBox="1"/>
          <p:nvPr/>
        </p:nvSpPr>
        <p:spPr>
          <a:xfrm>
            <a:off x="894578" y="1523430"/>
            <a:ext cx="8754247"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F3F3F"/>
              </a:buClr>
              <a:buSzPts val="5400"/>
              <a:buFont typeface="Comic Sans MS"/>
              <a:buNone/>
            </a:pPr>
            <a:r>
              <a:rPr b="1" i="0" lang="en-US" sz="5400" u="none" cap="none" strike="noStrike">
                <a:solidFill>
                  <a:srgbClr val="3F3F3F"/>
                </a:solidFill>
                <a:latin typeface="Comic Sans MS"/>
                <a:ea typeface="Comic Sans MS"/>
                <a:cs typeface="Comic Sans MS"/>
                <a:sym typeface="Comic Sans MS"/>
              </a:rPr>
              <a:t>Sistema de información para spa New Boys</a:t>
            </a:r>
            <a:endParaRPr b="1" i="0" sz="5400" u="none" cap="none" strike="noStrike">
              <a:solidFill>
                <a:srgbClr val="3F3F3F"/>
              </a:solidFill>
              <a:latin typeface="Comic Sans MS"/>
              <a:ea typeface="Comic Sans MS"/>
              <a:cs typeface="Comic Sans MS"/>
              <a:sym typeface="Comic Sans MS"/>
            </a:endParaRPr>
          </a:p>
        </p:txBody>
      </p:sp>
      <p:sp>
        <p:nvSpPr>
          <p:cNvPr id="94" name="Google Shape;94;p1"/>
          <p:cNvSpPr/>
          <p:nvPr/>
        </p:nvSpPr>
        <p:spPr>
          <a:xfrm>
            <a:off x="9105900" y="4915707"/>
            <a:ext cx="1945270" cy="829034"/>
          </a:xfrm>
          <a:prstGeom prst="rect">
            <a:avLst/>
          </a:prstGeom>
          <a:noFill/>
          <a:ln cap="flat" cmpd="sng" w="9525">
            <a:solidFill>
              <a:schemeClr val="dk1"/>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 name="Google Shape;95;p1"/>
          <p:cNvSpPr txBox="1"/>
          <p:nvPr/>
        </p:nvSpPr>
        <p:spPr>
          <a:xfrm>
            <a:off x="9105900" y="4915707"/>
            <a:ext cx="1945270"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Work Sans Medium"/>
                <a:ea typeface="Work Sans Medium"/>
                <a:cs typeface="Work Sans Medium"/>
                <a:sym typeface="Work Sans Medium"/>
              </a:rPr>
              <a:t>Marca externa</a:t>
            </a:r>
            <a:endParaRPr b="0" i="0" sz="1400" u="none" cap="none" strike="noStrike">
              <a:solidFill>
                <a:srgbClr val="000000"/>
              </a:solidFill>
              <a:latin typeface="Arial"/>
              <a:ea typeface="Arial"/>
              <a:cs typeface="Arial"/>
              <a:sym typeface="Arial"/>
            </a:endParaRPr>
          </a:p>
        </p:txBody>
      </p:sp>
      <p:sp>
        <p:nvSpPr>
          <p:cNvPr id="96" name="Google Shape;96;p1"/>
          <p:cNvSpPr txBox="1"/>
          <p:nvPr/>
        </p:nvSpPr>
        <p:spPr>
          <a:xfrm>
            <a:off x="0" y="3714943"/>
            <a:ext cx="3666600" cy="153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imes New Roman"/>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María Camila Molina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Johan Esteban Casquete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Melany Vanessa Pinzón </a:t>
            </a:r>
            <a:endParaRPr b="0" i="0" sz="16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Felipe Reyes</a:t>
            </a:r>
            <a:endParaRPr b="0" i="0" sz="16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Julian </a:t>
            </a:r>
            <a:r>
              <a:rPr lang="en-US" sz="1600">
                <a:latin typeface="Times New Roman"/>
                <a:ea typeface="Times New Roman"/>
                <a:cs typeface="Times New Roman"/>
                <a:sym typeface="Times New Roman"/>
              </a:rPr>
              <a:t>Moreno</a:t>
            </a:r>
            <a:endParaRPr b="0" i="0" sz="1600" u="none" cap="none" strike="noStrike">
              <a:solidFill>
                <a:srgbClr val="000000"/>
              </a:solidFill>
              <a:latin typeface="Times New Roman"/>
              <a:ea typeface="Times New Roman"/>
              <a:cs typeface="Times New Roman"/>
              <a:sym typeface="Times New Roman"/>
            </a:endParaRPr>
          </a:p>
        </p:txBody>
      </p:sp>
      <p:pic>
        <p:nvPicPr>
          <p:cNvPr id="97" name="Google Shape;97;p1"/>
          <p:cNvPicPr preferRelativeResize="0"/>
          <p:nvPr/>
        </p:nvPicPr>
        <p:blipFill rotWithShape="1">
          <a:blip r:embed="rId4">
            <a:alphaModFix/>
          </a:blip>
          <a:srcRect b="0" l="0" r="0" t="0"/>
          <a:stretch/>
        </p:blipFill>
        <p:spPr>
          <a:xfrm>
            <a:off x="9328559" y="4997511"/>
            <a:ext cx="1819529" cy="9924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2"/>
          <p:cNvSpPr txBox="1"/>
          <p:nvPr/>
        </p:nvSpPr>
        <p:spPr>
          <a:xfrm>
            <a:off x="-1032110" y="2299332"/>
            <a:ext cx="7021585" cy="19389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0" i="0" lang="en-US" sz="6000" u="none" cap="none" strike="noStrike">
                <a:solidFill>
                  <a:schemeClr val="dk1"/>
                </a:solidFill>
                <a:latin typeface="Comic Sans MS"/>
                <a:ea typeface="Comic Sans MS"/>
                <a:cs typeface="Comic Sans MS"/>
                <a:sym typeface="Comic Sans MS"/>
              </a:rPr>
              <a:t>Tabla de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0"/>
              <a:buFont typeface="Arial"/>
              <a:buNone/>
            </a:pPr>
            <a:r>
              <a:rPr b="0" i="0" lang="en-US" sz="6000" u="none" cap="none" strike="noStrike">
                <a:solidFill>
                  <a:schemeClr val="dk1"/>
                </a:solidFill>
                <a:latin typeface="Comic Sans MS"/>
                <a:ea typeface="Comic Sans MS"/>
                <a:cs typeface="Comic Sans MS"/>
                <a:sym typeface="Comic Sans MS"/>
              </a:rPr>
              <a:t>Contenido </a:t>
            </a:r>
            <a:endParaRPr b="0" i="0" sz="6000" u="none" cap="none" strike="noStrike">
              <a:solidFill>
                <a:schemeClr val="dk1"/>
              </a:solidFill>
              <a:latin typeface="Comic Sans MS"/>
              <a:ea typeface="Comic Sans MS"/>
              <a:cs typeface="Comic Sans MS"/>
              <a:sym typeface="Comic Sans MS"/>
            </a:endParaRPr>
          </a:p>
        </p:txBody>
      </p:sp>
      <p:graphicFrame>
        <p:nvGraphicFramePr>
          <p:cNvPr id="103" name="Google Shape;103;p2"/>
          <p:cNvGraphicFramePr/>
          <p:nvPr/>
        </p:nvGraphicFramePr>
        <p:xfrm>
          <a:off x="5095857" y="306203"/>
          <a:ext cx="3000000" cy="3000000"/>
        </p:xfrm>
        <a:graphic>
          <a:graphicData uri="http://schemas.openxmlformats.org/drawingml/2006/table">
            <a:tbl>
              <a:tblPr bandRow="1" firstRow="1">
                <a:noFill/>
                <a:tableStyleId>{AD7D8961-13EA-4BB3-BE33-A12315E0E241}</a:tableStyleId>
              </a:tblPr>
              <a:tblGrid>
                <a:gridCol w="5109025"/>
              </a:tblGrid>
              <a:tr h="555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5775">
                <a:tc>
                  <a:txBody>
                    <a:bodyPr/>
                    <a:lstStyle/>
                    <a:p>
                      <a:pPr indent="0" lvl="0" marL="0" marR="0" rtl="0" algn="l">
                        <a:lnSpc>
                          <a:spcPct val="100000"/>
                        </a:lnSpc>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1. Nombre del Proyecto e integrantes</a:t>
                      </a:r>
                      <a:endParaRPr sz="1400" u="none" cap="none" strike="noStrike"/>
                    </a:p>
                  </a:txBody>
                  <a:tcPr marT="45725" marB="45725" marR="91450" marL="91450"/>
                </a:tc>
              </a:tr>
              <a:tr h="5885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2. Planteamiento Del Problema</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3. Pregunta del Proyecto </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4. Justificación</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5. Objetivo General </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6. Objetivos Específicos</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7. Alcance del Proyecto</a:t>
                      </a:r>
                      <a:endParaRPr b="1" sz="1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8.Diagrama Procesos</a:t>
                      </a:r>
                      <a:endParaRPr b="1" sz="1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9. Recolección de datos</a:t>
                      </a:r>
                      <a:endParaRPr sz="1400" u="none" cap="none" strike="noStrike"/>
                    </a:p>
                  </a:txBody>
                  <a:tcPr marT="45725" marB="45725" marR="91450" marL="91450"/>
                </a:tc>
              </a:tr>
              <a:tr h="555775">
                <a:tc>
                  <a:txBody>
                    <a:bodyPr/>
                    <a:lstStyle/>
                    <a:p>
                      <a:pPr indent="0" lvl="0" marL="0" marR="0" rtl="0" algn="l">
                        <a:lnSpc>
                          <a:spcPct val="100000"/>
                        </a:lnSpc>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10. Requerimientos</a:t>
                      </a:r>
                      <a:endParaRPr sz="1400" u="none" cap="none" strike="noStrike"/>
                    </a:p>
                  </a:txBody>
                  <a:tcPr marT="45725" marB="45725" marR="91450" marL="9145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3"/>
          <p:cNvSpPr txBox="1"/>
          <p:nvPr/>
        </p:nvSpPr>
        <p:spPr>
          <a:xfrm>
            <a:off x="1209092" y="3076499"/>
            <a:ext cx="9773830"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6000"/>
              <a:buFont typeface="Comic Sans MS"/>
              <a:buNone/>
            </a:pPr>
            <a:r>
              <a:rPr b="1" i="0" lang="en-US" sz="6000" u="none" cap="none" strike="noStrike">
                <a:solidFill>
                  <a:schemeClr val="dk1"/>
                </a:solidFill>
                <a:latin typeface="Comic Sans MS"/>
                <a:ea typeface="Comic Sans MS"/>
                <a:cs typeface="Comic Sans MS"/>
                <a:sym typeface="Comic Sans MS"/>
              </a:rPr>
              <a:t> Formulación del Proyecto</a:t>
            </a:r>
            <a:endParaRPr b="1" i="0" sz="7200" u="none" cap="none" strike="noStrike">
              <a:solidFill>
                <a:schemeClr val="lt1"/>
              </a:solidFill>
              <a:latin typeface="Comic Sans MS"/>
              <a:ea typeface="Comic Sans MS"/>
              <a:cs typeface="Comic Sans MS"/>
              <a:sym typeface="Comic Sans MS"/>
            </a:endParaRPr>
          </a:p>
        </p:txBody>
      </p:sp>
      <p:cxnSp>
        <p:nvCxnSpPr>
          <p:cNvPr id="109" name="Google Shape;109;p3"/>
          <p:cNvCxnSpPr/>
          <p:nvPr/>
        </p:nvCxnSpPr>
        <p:spPr>
          <a:xfrm>
            <a:off x="4972228" y="4092162"/>
            <a:ext cx="2247544"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4"/>
          <p:cNvSpPr txBox="1"/>
          <p:nvPr/>
        </p:nvSpPr>
        <p:spPr>
          <a:xfrm>
            <a:off x="5297762" y="329184"/>
            <a:ext cx="6251110" cy="1783080"/>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5400"/>
              <a:buFont typeface="Arial"/>
              <a:buNone/>
            </a:pPr>
            <a:r>
              <a:rPr b="1" i="0" lang="en-US" sz="5400" u="none" cap="none" strike="noStrike">
                <a:solidFill>
                  <a:schemeClr val="dk1"/>
                </a:solidFill>
                <a:latin typeface="Comic Sans MS"/>
                <a:ea typeface="Comic Sans MS"/>
                <a:cs typeface="Comic Sans MS"/>
                <a:sym typeface="Comic Sans MS"/>
              </a:rPr>
              <a:t>Planteamiento Del Problema</a:t>
            </a:r>
            <a:endParaRPr b="1" i="0" sz="5400" u="none" cap="none" strike="noStrike">
              <a:solidFill>
                <a:schemeClr val="dk1"/>
              </a:solidFill>
              <a:latin typeface="Comic Sans MS"/>
              <a:ea typeface="Comic Sans MS"/>
              <a:cs typeface="Comic Sans MS"/>
              <a:sym typeface="Comic Sans MS"/>
            </a:endParaRPr>
          </a:p>
        </p:txBody>
      </p:sp>
      <p:pic>
        <p:nvPicPr>
          <p:cNvPr id="116" name="Google Shape;116;p4"/>
          <p:cNvPicPr preferRelativeResize="0"/>
          <p:nvPr/>
        </p:nvPicPr>
        <p:blipFill rotWithShape="1">
          <a:blip r:embed="rId3">
            <a:alphaModFix/>
          </a:blip>
          <a:srcRect b="519" l="0" r="-1" t="1189"/>
          <a:stretch/>
        </p:blipFill>
        <p:spPr>
          <a:xfrm>
            <a:off x="1"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17" name="Google Shape;117;p4"/>
          <p:cNvSpPr/>
          <p:nvPr/>
        </p:nvSpPr>
        <p:spPr>
          <a:xfrm>
            <a:off x="5297762" y="2374947"/>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 name="Google Shape;118;p4"/>
          <p:cNvSpPr txBox="1"/>
          <p:nvPr/>
        </p:nvSpPr>
        <p:spPr>
          <a:xfrm>
            <a:off x="5297762" y="2722834"/>
            <a:ext cx="6251110" cy="3483864"/>
          </a:xfrm>
          <a:prstGeom prst="rect">
            <a:avLst/>
          </a:prstGeom>
          <a:noFill/>
          <a:ln>
            <a:noFill/>
          </a:ln>
        </p:spPr>
        <p:txBody>
          <a:bodyPr anchorCtr="0" anchor="t" bIns="45700" lIns="91425" spcFirstLastPara="1" rIns="91425" wrap="square" tIns="45700">
            <a:normAutofit fontScale="62500" lnSpcReduction="10000"/>
          </a:bodyPr>
          <a:lstStyle/>
          <a:p>
            <a:pPr indent="0" lvl="0" marL="0" marR="0" rtl="0" algn="l">
              <a:lnSpc>
                <a:spcPct val="100000"/>
              </a:lnSpc>
              <a:spcBef>
                <a:spcPts val="0"/>
              </a:spcBef>
              <a:spcAft>
                <a:spcPts val="0"/>
              </a:spcAft>
              <a:buClr>
                <a:srgbClr val="000000"/>
              </a:buClr>
              <a:buSzPct val="100000"/>
              <a:buFont typeface="Arial"/>
              <a:buNone/>
            </a:pPr>
            <a:r>
              <a:rPr b="0" i="0" lang="en-US" sz="3200" u="none" cap="none" strike="noStrike">
                <a:solidFill>
                  <a:schemeClr val="dk1"/>
                </a:solidFill>
                <a:latin typeface="Comic Sans MS"/>
                <a:ea typeface="Comic Sans MS"/>
                <a:cs typeface="Comic Sans MS"/>
                <a:sym typeface="Comic Sans MS"/>
              </a:rPr>
              <a:t>En el spa </a:t>
            </a:r>
            <a:r>
              <a:rPr b="1" i="0" lang="en-US" sz="3200" u="none" cap="none" strike="noStrike">
                <a:solidFill>
                  <a:schemeClr val="dk1"/>
                </a:solidFill>
                <a:latin typeface="Comic Sans MS"/>
                <a:ea typeface="Comic Sans MS"/>
                <a:cs typeface="Comic Sans MS"/>
                <a:sym typeface="Comic Sans MS"/>
              </a:rPr>
              <a:t>NEW BOYS</a:t>
            </a:r>
            <a:r>
              <a:rPr b="0" i="0" lang="en-US" sz="3200" u="none" cap="none" strike="noStrike">
                <a:solidFill>
                  <a:schemeClr val="dk1"/>
                </a:solidFill>
                <a:latin typeface="Comic Sans MS"/>
                <a:ea typeface="Comic Sans MS"/>
                <a:cs typeface="Comic Sans MS"/>
                <a:sym typeface="Comic Sans MS"/>
              </a:rPr>
              <a:t> existen dificultades en el agendamiento de citas, la organización de horarios y la asignación de servicios, debido a la falta de un registro formal y al uso de mensajes o conversaciones informales. Esto genera confusión tanto para clientes como para trabajadores.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32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ct val="100000"/>
              <a:buFont typeface="Arial"/>
              <a:buNone/>
            </a:pPr>
            <a:r>
              <a:rPr b="0" i="0" lang="en-US" sz="3200" u="none" cap="none" strike="noStrike">
                <a:solidFill>
                  <a:schemeClr val="dk1"/>
                </a:solidFill>
                <a:latin typeface="Comic Sans MS"/>
                <a:ea typeface="Comic Sans MS"/>
                <a:cs typeface="Comic Sans MS"/>
                <a:sym typeface="Comic Sans MS"/>
              </a:rPr>
              <a:t>Además, el administrador no tiene claridad sobre qué servicios realiza cada profesional ni sobre el uso de los materiales, lo que dificulta el control de</a:t>
            </a:r>
            <a:r>
              <a:rPr lang="en-US" sz="3200">
                <a:solidFill>
                  <a:schemeClr val="dk1"/>
                </a:solidFill>
                <a:latin typeface="Comic Sans MS"/>
                <a:ea typeface="Comic Sans MS"/>
                <a:cs typeface="Comic Sans MS"/>
                <a:sym typeface="Comic Sans MS"/>
              </a:rPr>
              <a:t> insumos</a:t>
            </a:r>
            <a:r>
              <a:rPr b="0" i="0" lang="en-US" sz="3200" u="none" cap="none" strike="noStrike">
                <a:solidFill>
                  <a:schemeClr val="dk1"/>
                </a:solidFill>
                <a:latin typeface="Comic Sans MS"/>
                <a:ea typeface="Comic Sans MS"/>
                <a:cs typeface="Comic Sans MS"/>
                <a:sym typeface="Comic Sans MS"/>
              </a:rPr>
              <a:t>.</a:t>
            </a:r>
            <a:br>
              <a:rPr b="0" i="0" lang="en-US" sz="2200" u="none" cap="none" strike="noStrike">
                <a:solidFill>
                  <a:schemeClr val="dk1"/>
                </a:solidFill>
                <a:latin typeface="Calibri"/>
                <a:ea typeface="Calibri"/>
                <a:cs typeface="Calibri"/>
                <a:sym typeface="Calibri"/>
              </a:rPr>
            </a:b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sp>
        <p:nvSpPr>
          <p:cNvPr id="123" name="Google Shape;123;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 name="Google Shape;124;p5"/>
          <p:cNvSpPr txBox="1"/>
          <p:nvPr/>
        </p:nvSpPr>
        <p:spPr>
          <a:xfrm>
            <a:off x="640080" y="325369"/>
            <a:ext cx="4368602" cy="1956841"/>
          </a:xfrm>
          <a:prstGeom prst="rect">
            <a:avLst/>
          </a:prstGeom>
          <a:noFill/>
          <a:ln>
            <a:noFill/>
          </a:ln>
        </p:spPr>
        <p:txBody>
          <a:bodyPr anchorCtr="0" anchor="b" bIns="45700" lIns="91425" spcFirstLastPara="1" rIns="91425" wrap="square" tIns="45700">
            <a:normAutofit fontScale="92500"/>
          </a:bodyPr>
          <a:lstStyle/>
          <a:p>
            <a:pPr indent="0" lvl="0" marL="0" marR="0" rtl="0" algn="ctr">
              <a:lnSpc>
                <a:spcPct val="90000"/>
              </a:lnSpc>
              <a:spcBef>
                <a:spcPts val="0"/>
              </a:spcBef>
              <a:spcAft>
                <a:spcPts val="0"/>
              </a:spcAft>
              <a:buClr>
                <a:srgbClr val="000000"/>
              </a:buClr>
              <a:buSzPct val="100000"/>
              <a:buFont typeface="Arial"/>
              <a:buNone/>
            </a:pPr>
            <a:r>
              <a:rPr b="1" i="0" lang="en-US" sz="5400" u="none" cap="none" strike="noStrike">
                <a:solidFill>
                  <a:schemeClr val="dk1"/>
                </a:solidFill>
                <a:latin typeface="Comic Sans MS"/>
                <a:ea typeface="Comic Sans MS"/>
                <a:cs typeface="Comic Sans MS"/>
                <a:sym typeface="Comic Sans MS"/>
              </a:rPr>
              <a:t>Pregunta Del Proyecto</a:t>
            </a:r>
            <a:endParaRPr b="1" i="0" sz="5400" u="none" cap="none" strike="noStrike">
              <a:solidFill>
                <a:schemeClr val="dk1"/>
              </a:solidFill>
              <a:latin typeface="Comic Sans MS"/>
              <a:ea typeface="Comic Sans MS"/>
              <a:cs typeface="Comic Sans MS"/>
              <a:sym typeface="Comic Sans MS"/>
            </a:endParaRPr>
          </a:p>
        </p:txBody>
      </p:sp>
      <p:sp>
        <p:nvSpPr>
          <p:cNvPr id="125" name="Google Shape;125;p5"/>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5"/>
          <p:cNvSpPr txBox="1"/>
          <p:nvPr/>
        </p:nvSpPr>
        <p:spPr>
          <a:xfrm>
            <a:off x="640080" y="2872899"/>
            <a:ext cx="4243589" cy="332066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¿Cómo el desarrollo de una aplicación de gestión puede optimizar el agendamiento de citas, el control de los servicios realizados por cada profesional y la administración de</a:t>
            </a:r>
            <a:r>
              <a:rPr lang="en-US" sz="2400">
                <a:solidFill>
                  <a:schemeClr val="dk1"/>
                </a:solidFill>
                <a:latin typeface="Calibri"/>
                <a:ea typeface="Calibri"/>
                <a:cs typeface="Calibri"/>
                <a:sym typeface="Calibri"/>
              </a:rPr>
              <a:t> insumos </a:t>
            </a:r>
            <a:r>
              <a:rPr b="0" i="0" lang="en-US" sz="2400" u="none" cap="none" strike="noStrike">
                <a:solidFill>
                  <a:schemeClr val="dk1"/>
                </a:solidFill>
                <a:latin typeface="Calibri"/>
                <a:ea typeface="Calibri"/>
                <a:cs typeface="Calibri"/>
                <a:sym typeface="Calibri"/>
              </a:rPr>
              <a:t>en el SPA NEW BOYS?</a:t>
            </a:r>
            <a:endParaRPr b="0" i="0" sz="2200" u="none" cap="none" strike="noStrike">
              <a:solidFill>
                <a:schemeClr val="dk1"/>
              </a:solidFill>
              <a:latin typeface="Times New Roman"/>
              <a:ea typeface="Times New Roman"/>
              <a:cs typeface="Times New Roman"/>
              <a:sym typeface="Times New Roman"/>
            </a:endParaRPr>
          </a:p>
        </p:txBody>
      </p:sp>
      <p:pic>
        <p:nvPicPr>
          <p:cNvPr id="127" name="Google Shape;127;p5"/>
          <p:cNvPicPr preferRelativeResize="0"/>
          <p:nvPr/>
        </p:nvPicPr>
        <p:blipFill rotWithShape="1">
          <a:blip r:embed="rId3">
            <a:alphaModFix/>
          </a:blip>
          <a:srcRect b="3723" l="0" r="-1" t="29728"/>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sp>
        <p:nvSpPr>
          <p:cNvPr id="132" name="Google Shape;132;p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 name="Google Shape;133;p6"/>
          <p:cNvSpPr txBox="1"/>
          <p:nvPr/>
        </p:nvSpPr>
        <p:spPr>
          <a:xfrm>
            <a:off x="471550" y="189614"/>
            <a:ext cx="4368602" cy="1956841"/>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chemeClr val="dk1"/>
                </a:solidFill>
                <a:latin typeface="Comic Sans MS"/>
                <a:ea typeface="Comic Sans MS"/>
                <a:cs typeface="Comic Sans MS"/>
                <a:sym typeface="Comic Sans MS"/>
              </a:rPr>
              <a:t>Justificación</a:t>
            </a:r>
            <a:endParaRPr b="1" i="0" sz="4800" u="none" cap="none" strike="noStrike">
              <a:solidFill>
                <a:schemeClr val="dk1"/>
              </a:solidFill>
              <a:latin typeface="Comic Sans MS"/>
              <a:ea typeface="Comic Sans MS"/>
              <a:cs typeface="Comic Sans MS"/>
              <a:sym typeface="Comic Sans MS"/>
            </a:endParaRPr>
          </a:p>
        </p:txBody>
      </p:sp>
      <p:sp>
        <p:nvSpPr>
          <p:cNvPr id="134" name="Google Shape;134;p6"/>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 name="Google Shape;135;p6"/>
          <p:cNvSpPr txBox="1"/>
          <p:nvPr/>
        </p:nvSpPr>
        <p:spPr>
          <a:xfrm>
            <a:off x="369917" y="2841726"/>
            <a:ext cx="4243589" cy="332066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900"/>
              <a:buFont typeface="Arial"/>
              <a:buNone/>
            </a:pPr>
            <a:r>
              <a:t/>
            </a:r>
            <a:endParaRPr b="0" i="0" sz="1900" u="none" cap="none" strike="noStrike">
              <a:solidFill>
                <a:schemeClr val="dk1"/>
              </a:solidFill>
              <a:latin typeface="Times New Roman"/>
              <a:ea typeface="Times New Roman"/>
              <a:cs typeface="Times New Roman"/>
              <a:sym typeface="Times New Roman"/>
            </a:endParaRPr>
          </a:p>
        </p:txBody>
      </p:sp>
      <p:pic>
        <p:nvPicPr>
          <p:cNvPr id="136" name="Google Shape;136;p6"/>
          <p:cNvPicPr preferRelativeResize="0"/>
          <p:nvPr/>
        </p:nvPicPr>
        <p:blipFill rotWithShape="1">
          <a:blip r:embed="rId3">
            <a:alphaModFix/>
          </a:blip>
          <a:srcRect b="8511" l="0" r="2" t="31671"/>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137" name="Google Shape;137;p6"/>
          <p:cNvSpPr/>
          <p:nvPr/>
        </p:nvSpPr>
        <p:spPr>
          <a:xfrm>
            <a:off x="369917" y="2837920"/>
            <a:ext cx="4803683" cy="397031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Tras analizar las problemáticas que presenta el SPA NEW BOYS, relacionadas con la inadecuada gestión de citas, la desorganización de los servicios y la falta de control de</a:t>
            </a:r>
            <a:r>
              <a:rPr lang="en-US" sz="1800">
                <a:solidFill>
                  <a:schemeClr val="dk1"/>
                </a:solidFill>
              </a:rPr>
              <a:t> insumos</a:t>
            </a:r>
            <a:r>
              <a:rPr b="0" i="0" lang="en-US" sz="1800" u="none" cap="none" strike="noStrike">
                <a:solidFill>
                  <a:schemeClr val="dk1"/>
                </a:solidFill>
                <a:latin typeface="Arial"/>
                <a:ea typeface="Arial"/>
                <a:cs typeface="Arial"/>
                <a:sym typeface="Arial"/>
              </a:rPr>
              <a:t>, se propone el desarrollo de un sistema de información que permita optimizar estos procesos. Este sistema facilitará el agendamiento ordenado de citas para los clientes y brindará al administrador un mayor control sobre los servicios realizados por cada profesional, así como sobre los materiales utilizados en la operación del negocio.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 name="Shape 141"/>
        <p:cNvGrpSpPr/>
        <p:nvPr/>
      </p:nvGrpSpPr>
      <p:grpSpPr>
        <a:xfrm>
          <a:off x="0" y="0"/>
          <a:ext cx="0" cy="0"/>
          <a:chOff x="0" y="0"/>
          <a:chExt cx="0" cy="0"/>
        </a:xfrm>
      </p:grpSpPr>
      <p:sp>
        <p:nvSpPr>
          <p:cNvPr id="142" name="Google Shape;142;p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 name="Google Shape;143;p7"/>
          <p:cNvSpPr txBox="1"/>
          <p:nvPr/>
        </p:nvSpPr>
        <p:spPr>
          <a:xfrm>
            <a:off x="5297762" y="329184"/>
            <a:ext cx="6251110" cy="178308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5400"/>
              <a:buFont typeface="Arial"/>
              <a:buNone/>
            </a:pPr>
            <a:r>
              <a:rPr b="1" i="0" lang="en-US" sz="5400" u="none" cap="none" strike="noStrike">
                <a:solidFill>
                  <a:schemeClr val="dk1"/>
                </a:solidFill>
                <a:latin typeface="Comic Sans MS"/>
                <a:ea typeface="Comic Sans MS"/>
                <a:cs typeface="Comic Sans MS"/>
                <a:sym typeface="Comic Sans MS"/>
              </a:rPr>
              <a:t>Objetivo General</a:t>
            </a:r>
            <a:endParaRPr b="1" i="0" sz="5400" u="none" cap="none" strike="noStrike">
              <a:solidFill>
                <a:schemeClr val="dk1"/>
              </a:solidFill>
              <a:latin typeface="Comic Sans MS"/>
              <a:ea typeface="Comic Sans MS"/>
              <a:cs typeface="Comic Sans MS"/>
              <a:sym typeface="Comic Sans MS"/>
            </a:endParaRPr>
          </a:p>
        </p:txBody>
      </p:sp>
      <p:pic>
        <p:nvPicPr>
          <p:cNvPr id="144" name="Google Shape;144;p7"/>
          <p:cNvPicPr preferRelativeResize="0"/>
          <p:nvPr/>
        </p:nvPicPr>
        <p:blipFill rotWithShape="1">
          <a:blip r:embed="rId3">
            <a:alphaModFix/>
          </a:blip>
          <a:srcRect b="0" l="2984" r="0" t="0"/>
          <a:stretch/>
        </p:blipFill>
        <p:spPr>
          <a:xfrm>
            <a:off x="1"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45" name="Google Shape;145;p7"/>
          <p:cNvSpPr/>
          <p:nvPr/>
        </p:nvSpPr>
        <p:spPr>
          <a:xfrm>
            <a:off x="5297762" y="2374947"/>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 name="Google Shape;146;p7"/>
          <p:cNvSpPr txBox="1"/>
          <p:nvPr/>
        </p:nvSpPr>
        <p:spPr>
          <a:xfrm>
            <a:off x="5297762" y="3079209"/>
            <a:ext cx="6251110" cy="176479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Crear un sistema de información que permita gestionar de manera sencilla y organizada el control de los clientes, los horarios, los servicios y </a:t>
            </a:r>
            <a:r>
              <a:rPr lang="en-US" sz="2400">
                <a:solidFill>
                  <a:schemeClr val="dk1"/>
                </a:solidFill>
                <a:latin typeface="Calibri"/>
                <a:ea typeface="Calibri"/>
                <a:cs typeface="Calibri"/>
                <a:sym typeface="Calibri"/>
              </a:rPr>
              <a:t>de los insumos </a:t>
            </a:r>
            <a:r>
              <a:rPr b="0" i="0" lang="en-US" sz="2400" u="none" cap="none" strike="noStrike">
                <a:solidFill>
                  <a:schemeClr val="dk1"/>
                </a:solidFill>
                <a:latin typeface="Calibri"/>
                <a:ea typeface="Calibri"/>
                <a:cs typeface="Calibri"/>
                <a:sym typeface="Calibri"/>
              </a:rPr>
              <a:t>del SPA NEW BOYS.</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0" name="Shape 150"/>
        <p:cNvGrpSpPr/>
        <p:nvPr/>
      </p:nvGrpSpPr>
      <p:grpSpPr>
        <a:xfrm>
          <a:off x="0" y="0"/>
          <a:ext cx="0" cy="0"/>
          <a:chOff x="0" y="0"/>
          <a:chExt cx="0" cy="0"/>
        </a:xfrm>
      </p:grpSpPr>
      <p:sp>
        <p:nvSpPr>
          <p:cNvPr id="151" name="Google Shape;151;p8"/>
          <p:cNvSpPr txBox="1"/>
          <p:nvPr/>
        </p:nvSpPr>
        <p:spPr>
          <a:xfrm>
            <a:off x="5776073" y="79531"/>
            <a:ext cx="5958911"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Comic Sans MS"/>
              <a:buNone/>
            </a:pPr>
            <a:r>
              <a:rPr b="1" i="0" lang="en-US" sz="4800" u="none" cap="none" strike="noStrike">
                <a:solidFill>
                  <a:schemeClr val="dk1"/>
                </a:solidFill>
                <a:latin typeface="Comic Sans MS"/>
                <a:ea typeface="Comic Sans MS"/>
                <a:cs typeface="Comic Sans MS"/>
                <a:sym typeface="Comic Sans MS"/>
              </a:rPr>
              <a:t>Objetivos Específicos</a:t>
            </a:r>
            <a:endParaRPr b="1" i="0" sz="4800" u="none" cap="none" strike="noStrike">
              <a:solidFill>
                <a:schemeClr val="lt1"/>
              </a:solidFill>
              <a:latin typeface="Comic Sans MS"/>
              <a:ea typeface="Comic Sans MS"/>
              <a:cs typeface="Comic Sans MS"/>
              <a:sym typeface="Comic Sans MS"/>
            </a:endParaRPr>
          </a:p>
        </p:txBody>
      </p:sp>
      <p:grpSp>
        <p:nvGrpSpPr>
          <p:cNvPr id="152" name="Google Shape;152;p8"/>
          <p:cNvGrpSpPr/>
          <p:nvPr/>
        </p:nvGrpSpPr>
        <p:grpSpPr>
          <a:xfrm>
            <a:off x="5810249" y="2290584"/>
            <a:ext cx="5649597" cy="3705323"/>
            <a:chOff x="34176" y="378718"/>
            <a:chExt cx="5649597" cy="3705323"/>
          </a:xfrm>
        </p:grpSpPr>
        <p:sp>
          <p:nvSpPr>
            <p:cNvPr id="153" name="Google Shape;153;p8"/>
            <p:cNvSpPr/>
            <p:nvPr/>
          </p:nvSpPr>
          <p:spPr>
            <a:xfrm>
              <a:off x="34176" y="378718"/>
              <a:ext cx="729328" cy="729328"/>
            </a:xfrm>
            <a:prstGeom prst="ellipse">
              <a:avLst/>
            </a:prstGeom>
            <a:solidFill>
              <a:srgbClr val="CCD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8"/>
            <p:cNvSpPr/>
            <p:nvPr/>
          </p:nvSpPr>
          <p:spPr>
            <a:xfrm>
              <a:off x="187335" y="531877"/>
              <a:ext cx="423010" cy="423010"/>
            </a:xfrm>
            <a:prstGeom prst="rect">
              <a:avLst/>
            </a:prstGeom>
            <a:blipFill rotWithShape="1">
              <a:blip r:embed="rId4">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8"/>
            <p:cNvSpPr/>
            <p:nvPr/>
          </p:nvSpPr>
          <p:spPr>
            <a:xfrm>
              <a:off x="919789" y="378718"/>
              <a:ext cx="1719130" cy="72932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8"/>
            <p:cNvSpPr txBox="1"/>
            <p:nvPr/>
          </p:nvSpPr>
          <p:spPr>
            <a:xfrm>
              <a:off x="919789" y="378718"/>
              <a:ext cx="1719130" cy="729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Registrar y </a:t>
              </a:r>
              <a:r>
                <a:rPr lang="en-US" sz="1200">
                  <a:solidFill>
                    <a:schemeClr val="dk1"/>
                  </a:solidFill>
                  <a:latin typeface="Times New Roman"/>
                  <a:ea typeface="Times New Roman"/>
                  <a:cs typeface="Times New Roman"/>
                  <a:sym typeface="Times New Roman"/>
                </a:rPr>
                <a:t>gestionar </a:t>
              </a:r>
              <a:r>
                <a:rPr b="0" i="0" lang="en-US" sz="1200" u="none" cap="none" strike="noStrike">
                  <a:solidFill>
                    <a:schemeClr val="dk1"/>
                  </a:solidFill>
                  <a:latin typeface="Times New Roman"/>
                  <a:ea typeface="Times New Roman"/>
                  <a:cs typeface="Times New Roman"/>
                  <a:sym typeface="Times New Roman"/>
                </a:rPr>
                <a:t>los usuarios del spa, con su respectiva asignación de roles</a:t>
              </a:r>
              <a:endParaRPr b="0" i="0" sz="1200" u="none" cap="none" strike="noStrike">
                <a:solidFill>
                  <a:schemeClr val="dk1"/>
                </a:solidFill>
                <a:latin typeface="Times New Roman"/>
                <a:ea typeface="Times New Roman"/>
                <a:cs typeface="Times New Roman"/>
                <a:sym typeface="Times New Roman"/>
              </a:endParaRPr>
            </a:p>
          </p:txBody>
        </p:sp>
        <p:sp>
          <p:nvSpPr>
            <p:cNvPr id="157" name="Google Shape;157;p8"/>
            <p:cNvSpPr/>
            <p:nvPr/>
          </p:nvSpPr>
          <p:spPr>
            <a:xfrm>
              <a:off x="2938465" y="378718"/>
              <a:ext cx="729328" cy="729328"/>
            </a:xfrm>
            <a:prstGeom prst="ellipse">
              <a:avLst/>
            </a:prstGeom>
            <a:solidFill>
              <a:srgbClr val="CCD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8"/>
            <p:cNvSpPr/>
            <p:nvPr/>
          </p:nvSpPr>
          <p:spPr>
            <a:xfrm>
              <a:off x="3091624" y="531877"/>
              <a:ext cx="423010" cy="423010"/>
            </a:xfrm>
            <a:prstGeom prst="rect">
              <a:avLst/>
            </a:prstGeom>
            <a:blipFill rotWithShape="1">
              <a:blip r:embed="rId5">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8"/>
            <p:cNvSpPr/>
            <p:nvPr/>
          </p:nvSpPr>
          <p:spPr>
            <a:xfrm>
              <a:off x="3824078" y="378718"/>
              <a:ext cx="1719130" cy="72932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8"/>
            <p:cNvSpPr txBox="1"/>
            <p:nvPr/>
          </p:nvSpPr>
          <p:spPr>
            <a:xfrm>
              <a:off x="3824078" y="378718"/>
              <a:ext cx="1719130" cy="729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permitir al administrador la gestión de sus empleados y los horarios de estos</a:t>
              </a:r>
              <a:endParaRPr b="0" i="0" sz="1200" u="none" cap="none" strike="noStrike">
                <a:solidFill>
                  <a:schemeClr val="dk1"/>
                </a:solidFill>
                <a:latin typeface="Times New Roman"/>
                <a:ea typeface="Times New Roman"/>
                <a:cs typeface="Times New Roman"/>
                <a:sym typeface="Times New Roman"/>
              </a:endParaRPr>
            </a:p>
          </p:txBody>
        </p:sp>
        <p:sp>
          <p:nvSpPr>
            <p:cNvPr id="161" name="Google Shape;161;p8"/>
            <p:cNvSpPr/>
            <p:nvPr/>
          </p:nvSpPr>
          <p:spPr>
            <a:xfrm>
              <a:off x="34176" y="1866715"/>
              <a:ext cx="729328" cy="729328"/>
            </a:xfrm>
            <a:prstGeom prst="ellipse">
              <a:avLst/>
            </a:prstGeom>
            <a:solidFill>
              <a:srgbClr val="CCD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8"/>
            <p:cNvSpPr/>
            <p:nvPr/>
          </p:nvSpPr>
          <p:spPr>
            <a:xfrm>
              <a:off x="187335" y="2019874"/>
              <a:ext cx="423010" cy="423010"/>
            </a:xfrm>
            <a:prstGeom prst="rect">
              <a:avLst/>
            </a:prstGeom>
            <a:blipFill rotWithShape="1">
              <a:blip r:embed="rId6">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8"/>
            <p:cNvSpPr/>
            <p:nvPr/>
          </p:nvSpPr>
          <p:spPr>
            <a:xfrm>
              <a:off x="870665" y="1866715"/>
              <a:ext cx="2000260" cy="72932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8"/>
            <p:cNvSpPr txBox="1"/>
            <p:nvPr/>
          </p:nvSpPr>
          <p:spPr>
            <a:xfrm>
              <a:off x="870665" y="1866715"/>
              <a:ext cx="2000260" cy="729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Permitira agendar citas, validado disponibilidad del trabajador</a:t>
              </a:r>
              <a:endParaRPr b="0" i="0" sz="1400" u="none" cap="none" strike="noStrike">
                <a:solidFill>
                  <a:srgbClr val="000000"/>
                </a:solidFill>
                <a:latin typeface="Arial"/>
                <a:ea typeface="Arial"/>
                <a:cs typeface="Arial"/>
                <a:sym typeface="Arial"/>
              </a:endParaRPr>
            </a:p>
          </p:txBody>
        </p:sp>
        <p:sp>
          <p:nvSpPr>
            <p:cNvPr id="165" name="Google Shape;165;p8"/>
            <p:cNvSpPr/>
            <p:nvPr/>
          </p:nvSpPr>
          <p:spPr>
            <a:xfrm>
              <a:off x="3079030" y="1866715"/>
              <a:ext cx="729328" cy="729328"/>
            </a:xfrm>
            <a:prstGeom prst="ellipse">
              <a:avLst/>
            </a:prstGeom>
            <a:solidFill>
              <a:srgbClr val="CCD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8"/>
            <p:cNvSpPr/>
            <p:nvPr/>
          </p:nvSpPr>
          <p:spPr>
            <a:xfrm>
              <a:off x="3222028" y="2019874"/>
              <a:ext cx="423010" cy="423010"/>
            </a:xfrm>
            <a:prstGeom prst="rect">
              <a:avLst/>
            </a:prstGeom>
            <a:blipFill rotWithShape="1">
              <a:blip r:embed="rId7">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8"/>
            <p:cNvSpPr/>
            <p:nvPr/>
          </p:nvSpPr>
          <p:spPr>
            <a:xfrm>
              <a:off x="3964643" y="1866715"/>
              <a:ext cx="1719130" cy="72932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8"/>
            <p:cNvSpPr txBox="1"/>
            <p:nvPr/>
          </p:nvSpPr>
          <p:spPr>
            <a:xfrm>
              <a:off x="3964643" y="1866715"/>
              <a:ext cx="1719130" cy="729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Permitir una gestión más ordenada de los insumos utilizados en los servicios</a:t>
              </a:r>
              <a:endParaRPr b="0" i="0" sz="1200" u="none" cap="none" strike="noStrike">
                <a:solidFill>
                  <a:schemeClr val="dk1"/>
                </a:solidFill>
                <a:latin typeface="Times New Roman"/>
                <a:ea typeface="Times New Roman"/>
                <a:cs typeface="Times New Roman"/>
                <a:sym typeface="Times New Roman"/>
              </a:endParaRPr>
            </a:p>
          </p:txBody>
        </p:sp>
        <p:sp>
          <p:nvSpPr>
            <p:cNvPr id="169" name="Google Shape;169;p8"/>
            <p:cNvSpPr/>
            <p:nvPr/>
          </p:nvSpPr>
          <p:spPr>
            <a:xfrm>
              <a:off x="34176" y="3354713"/>
              <a:ext cx="729328" cy="729328"/>
            </a:xfrm>
            <a:prstGeom prst="ellipse">
              <a:avLst/>
            </a:prstGeom>
            <a:solidFill>
              <a:srgbClr val="CCD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8"/>
            <p:cNvSpPr/>
            <p:nvPr/>
          </p:nvSpPr>
          <p:spPr>
            <a:xfrm>
              <a:off x="187335" y="3507872"/>
              <a:ext cx="423010" cy="423010"/>
            </a:xfrm>
            <a:prstGeom prst="rect">
              <a:avLst/>
            </a:prstGeom>
            <a:blipFill rotWithShape="1">
              <a:blip r:embed="rId8">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8"/>
            <p:cNvSpPr/>
            <p:nvPr/>
          </p:nvSpPr>
          <p:spPr>
            <a:xfrm>
              <a:off x="797988" y="3334394"/>
              <a:ext cx="2181474" cy="72932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8"/>
            <p:cNvSpPr txBox="1"/>
            <p:nvPr/>
          </p:nvSpPr>
          <p:spPr>
            <a:xfrm>
              <a:off x="797988" y="3334394"/>
              <a:ext cx="2181474" cy="729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Generar de manera automática y verificada recibos para los servicios prestados por el spa</a:t>
              </a:r>
              <a:endParaRPr b="0" i="0" sz="1200" u="none" cap="none" strike="noStrike">
                <a:solidFill>
                  <a:schemeClr val="dk1"/>
                </a:solidFill>
                <a:latin typeface="Times New Roman"/>
                <a:ea typeface="Times New Roman"/>
                <a:cs typeface="Times New Roman"/>
                <a:sym typeface="Times New Roman"/>
              </a:endParaRPr>
            </a:p>
          </p:txBody>
        </p:sp>
      </p:grpSp>
      <p:pic>
        <p:nvPicPr>
          <p:cNvPr descr="Patrón de fondo&#10;&#10;El contenido generado por IA puede ser incorrecto." id="173" name="Google Shape;173;p8"/>
          <p:cNvPicPr preferRelativeResize="0"/>
          <p:nvPr/>
        </p:nvPicPr>
        <p:blipFill rotWithShape="1">
          <a:blip r:embed="rId9">
            <a:alphaModFix/>
          </a:blip>
          <a:srcRect b="0" l="0" r="0" t="0"/>
          <a:stretch/>
        </p:blipFill>
        <p:spPr>
          <a:xfrm>
            <a:off x="697976" y="0"/>
            <a:ext cx="4111444" cy="6858000"/>
          </a:xfrm>
          <a:prstGeom prst="ellips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aphicFrame>
        <p:nvGraphicFramePr>
          <p:cNvPr id="179" name="Google Shape;179;g395b38490da_0_0"/>
          <p:cNvGraphicFramePr/>
          <p:nvPr/>
        </p:nvGraphicFramePr>
        <p:xfrm>
          <a:off x="952500" y="2401550"/>
          <a:ext cx="3000000" cy="3000000"/>
        </p:xfrm>
        <a:graphic>
          <a:graphicData uri="http://schemas.openxmlformats.org/drawingml/2006/table">
            <a:tbl>
              <a:tblPr>
                <a:noFill/>
                <a:tableStyleId>{004FCE26-D7BF-4204-9D85-558F506F53B8}</a:tableStyleId>
              </a:tblPr>
              <a:tblGrid>
                <a:gridCol w="2520950"/>
                <a:gridCol w="7766050"/>
              </a:tblGrid>
              <a:tr h="381000">
                <a:tc>
                  <a:txBody>
                    <a:bodyPr/>
                    <a:lstStyle/>
                    <a:p>
                      <a:pPr indent="0" lvl="0" marL="0" rtl="0" algn="ctr">
                        <a:spcBef>
                          <a:spcPts val="0"/>
                        </a:spcBef>
                        <a:spcAft>
                          <a:spcPts val="0"/>
                        </a:spcAft>
                        <a:buNone/>
                      </a:pPr>
                      <a:r>
                        <a:rPr b="1" lang="en-US" sz="1600"/>
                        <a:t>Modulos</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b="1" lang="en-US" sz="1600"/>
                        <a:t> </a:t>
                      </a:r>
                      <a:r>
                        <a:rPr b="1" lang="en-US" sz="1600"/>
                        <a:t>Descripción</a:t>
                      </a:r>
                      <a:r>
                        <a:rPr b="1" lang="en-US" sz="1600"/>
                        <a:t> general </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rPr lang="en-US"/>
                        <a:t>Gestión</a:t>
                      </a:r>
                      <a:r>
                        <a:rPr lang="en-US"/>
                        <a:t> </a:t>
                      </a:r>
                      <a:r>
                        <a:rPr lang="en-US"/>
                        <a:t>de Usuarios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rPr lang="en-US"/>
                        <a:t>Permitir el registro de </a:t>
                      </a:r>
                      <a:r>
                        <a:rPr lang="en-US"/>
                        <a:t>usuarios</a:t>
                      </a:r>
                      <a:r>
                        <a:rPr lang="en-US"/>
                        <a:t> por medio de un formulario y la </a:t>
                      </a:r>
                      <a:r>
                        <a:rPr lang="en-US"/>
                        <a:t>verificación de información registrada en el sistema</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rPr lang="en-US"/>
                        <a:t>Programación</a:t>
                      </a:r>
                      <a:r>
                        <a:rPr lang="en-US"/>
                        <a:t> de Citas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rPr lang="en-US"/>
                        <a:t>Permitir la solicitud de citas, contando con la disponibilidad horaria de los empleados y el horario establecido por el administrador</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rPr lang="en-US"/>
                        <a:t>Gestión</a:t>
                      </a:r>
                      <a:r>
                        <a:rPr lang="en-US"/>
                        <a:t> de Insumos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rPr lang="en-US"/>
                        <a:t>Mantener</a:t>
                      </a:r>
                      <a:r>
                        <a:rPr lang="en-US"/>
                        <a:t> un </a:t>
                      </a:r>
                      <a:r>
                        <a:rPr lang="en-US"/>
                        <a:t>catálogo</a:t>
                      </a:r>
                      <a:r>
                        <a:rPr lang="en-US"/>
                        <a:t> de los insumos dentro de </a:t>
                      </a:r>
                      <a:r>
                        <a:rPr lang="en-US"/>
                        <a:t>él</a:t>
                      </a:r>
                      <a:r>
                        <a:rPr lang="en-US"/>
                        <a:t> spa, permitiendo la </a:t>
                      </a:r>
                      <a:r>
                        <a:rPr lang="en-US"/>
                        <a:t>actualización</a:t>
                      </a:r>
                      <a:r>
                        <a:rPr lang="en-US"/>
                        <a:t> de estos mismos por parte del administrador</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rPr lang="en-US"/>
                        <a:t>Gestión</a:t>
                      </a:r>
                      <a:r>
                        <a:rPr lang="en-US"/>
                        <a:t> de Recibos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rPr lang="en-US"/>
                        <a:t>Facilitar el registro de servicios realizados por el spa, permitiendo una </a:t>
                      </a:r>
                      <a:r>
                        <a:rPr lang="en-US"/>
                        <a:t>creación</a:t>
                      </a:r>
                      <a:r>
                        <a:rPr lang="en-US"/>
                        <a:t> de recibos para cada </a:t>
                      </a:r>
                      <a:r>
                        <a:rPr lang="en-US"/>
                        <a:t>usuario validando los precios establecidos por el administrador</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rPr lang="en-US"/>
                        <a:t>Generación</a:t>
                      </a:r>
                      <a:r>
                        <a:rPr lang="en-US"/>
                        <a:t> de Reportes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rPr lang="en-US"/>
                        <a:t>Permite crear indicadores, evaluar el desempeño de los empleados, visualizar resultados y descargar reportes.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6D7A8"/>
                    </a:solidFill>
                  </a:tcPr>
                </a:tc>
              </a:tr>
            </a:tbl>
          </a:graphicData>
        </a:graphic>
      </p:graphicFrame>
      <p:sp>
        <p:nvSpPr>
          <p:cNvPr id="180" name="Google Shape;180;g395b38490da_0_0"/>
          <p:cNvSpPr txBox="1"/>
          <p:nvPr/>
        </p:nvSpPr>
        <p:spPr>
          <a:xfrm>
            <a:off x="2678600" y="529075"/>
            <a:ext cx="61476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Comic Sans MS"/>
              <a:buNone/>
            </a:pPr>
            <a:r>
              <a:rPr b="1" lang="en-US" sz="4800">
                <a:solidFill>
                  <a:schemeClr val="dk1"/>
                </a:solidFill>
                <a:latin typeface="Comic Sans MS"/>
                <a:ea typeface="Comic Sans MS"/>
                <a:cs typeface="Comic Sans MS"/>
                <a:sym typeface="Comic Sans MS"/>
              </a:rPr>
              <a:t>Módulos</a:t>
            </a:r>
            <a:r>
              <a:rPr b="1" lang="en-US" sz="4800">
                <a:solidFill>
                  <a:schemeClr val="dk1"/>
                </a:solidFill>
                <a:latin typeface="Comic Sans MS"/>
                <a:ea typeface="Comic Sans MS"/>
                <a:cs typeface="Comic Sans MS"/>
                <a:sym typeface="Comic Sans MS"/>
              </a:rPr>
              <a:t> del sistema</a:t>
            </a:r>
            <a:endParaRPr b="1" i="0" sz="4800" u="none" cap="none" strike="noStrike">
              <a:solidFill>
                <a:schemeClr val="lt1"/>
              </a:solidFill>
              <a:latin typeface="Comic Sans MS"/>
              <a:ea typeface="Comic Sans MS"/>
              <a:cs typeface="Comic Sans MS"/>
              <a:sym typeface="Comic Sans MS"/>
            </a:endParaRPr>
          </a:p>
        </p:txBody>
      </p:sp>
      <p:sp>
        <p:nvSpPr>
          <p:cNvPr id="181" name="Google Shape;181;g395b38490da_0_0"/>
          <p:cNvSpPr/>
          <p:nvPr/>
        </p:nvSpPr>
        <p:spPr>
          <a:xfrm>
            <a:off x="3536625" y="1608408"/>
            <a:ext cx="4243589" cy="59482"/>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 name="Google Shape;187;p9"/>
          <p:cNvSpPr txBox="1"/>
          <p:nvPr/>
        </p:nvSpPr>
        <p:spPr>
          <a:xfrm>
            <a:off x="5297762" y="329184"/>
            <a:ext cx="6251110" cy="1783080"/>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5400"/>
              <a:buFont typeface="Arial"/>
              <a:buNone/>
            </a:pPr>
            <a:r>
              <a:rPr b="1" i="0" lang="en-US" sz="5400" u="none" cap="none" strike="noStrike">
                <a:solidFill>
                  <a:schemeClr val="dk1"/>
                </a:solidFill>
                <a:latin typeface="Comic Sans MS"/>
                <a:ea typeface="Comic Sans MS"/>
                <a:cs typeface="Comic Sans MS"/>
                <a:sym typeface="Comic Sans MS"/>
              </a:rPr>
              <a:t>Alcance del</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600"/>
              </a:spcBef>
              <a:spcAft>
                <a:spcPts val="0"/>
              </a:spcAft>
              <a:buClr>
                <a:srgbClr val="000000"/>
              </a:buClr>
              <a:buSzPts val="5400"/>
              <a:buFont typeface="Arial"/>
              <a:buNone/>
            </a:pPr>
            <a:r>
              <a:rPr b="1" i="0" lang="en-US" sz="5400" u="none" cap="none" strike="noStrike">
                <a:solidFill>
                  <a:schemeClr val="dk1"/>
                </a:solidFill>
                <a:latin typeface="Comic Sans MS"/>
                <a:ea typeface="Comic Sans MS"/>
                <a:cs typeface="Comic Sans MS"/>
                <a:sym typeface="Comic Sans MS"/>
              </a:rPr>
              <a:t>Proyecto</a:t>
            </a:r>
            <a:endParaRPr b="1" i="0" sz="5400" u="none" cap="none" strike="noStrike">
              <a:solidFill>
                <a:schemeClr val="dk1"/>
              </a:solidFill>
              <a:latin typeface="Comic Sans MS"/>
              <a:ea typeface="Comic Sans MS"/>
              <a:cs typeface="Comic Sans MS"/>
              <a:sym typeface="Comic Sans MS"/>
            </a:endParaRPr>
          </a:p>
        </p:txBody>
      </p:sp>
      <p:pic>
        <p:nvPicPr>
          <p:cNvPr descr="Diagrama&#10;&#10;El contenido generado por IA puede ser incorrecto." id="188" name="Google Shape;188;p9"/>
          <p:cNvPicPr preferRelativeResize="0"/>
          <p:nvPr/>
        </p:nvPicPr>
        <p:blipFill rotWithShape="1">
          <a:blip r:embed="rId3">
            <a:alphaModFix/>
          </a:blip>
          <a:srcRect b="17170" l="0" r="-1" t="0"/>
          <a:stretch/>
        </p:blipFill>
        <p:spPr>
          <a:xfrm>
            <a:off x="0" y="-9515"/>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89" name="Google Shape;189;p9"/>
          <p:cNvSpPr/>
          <p:nvPr/>
        </p:nvSpPr>
        <p:spPr>
          <a:xfrm>
            <a:off x="5297762" y="2374947"/>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0" name="Google Shape;190;p9"/>
          <p:cNvSpPr txBox="1"/>
          <p:nvPr/>
        </p:nvSpPr>
        <p:spPr>
          <a:xfrm>
            <a:off x="9985925" y="2614560"/>
            <a:ext cx="1562778" cy="1119854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200"/>
              <a:buFont typeface="Arial"/>
              <a:buNone/>
            </a:pPr>
            <a:r>
              <a:t/>
            </a:r>
            <a:endParaRPr b="1" i="0" sz="2200" u="none" cap="none" strike="noStrike">
              <a:solidFill>
                <a:schemeClr val="dk1"/>
              </a:solidFill>
              <a:latin typeface="Times New Roman"/>
              <a:ea typeface="Times New Roman"/>
              <a:cs typeface="Times New Roman"/>
              <a:sym typeface="Times New Roman"/>
            </a:endParaRPr>
          </a:p>
          <a:p>
            <a:pPr indent="139700" lvl="0" marL="0" marR="0" rtl="0" algn="l">
              <a:lnSpc>
                <a:spcPct val="90000"/>
              </a:lnSpc>
              <a:spcBef>
                <a:spcPts val="600"/>
              </a:spcBef>
              <a:spcAft>
                <a:spcPts val="0"/>
              </a:spcAft>
              <a:buClr>
                <a:schemeClr val="dk1"/>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90000"/>
              </a:lnSpc>
              <a:spcBef>
                <a:spcPts val="60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191" name="Google Shape;191;p9"/>
          <p:cNvSpPr/>
          <p:nvPr/>
        </p:nvSpPr>
        <p:spPr>
          <a:xfrm>
            <a:off x="5412862" y="3146963"/>
            <a:ext cx="6436237" cy="230832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Durante siete trimestres se desarrollará un sistema de información diseñado para optimizar la gestión del SPA NEW BOYS, facilitando la comunicación entre el cliente y el establecimiento al momento de agendar los servicios. Además, el sistema permitirá organizar los horarios, registrar los servicios realizados por cada profesional y apoyar el control de</a:t>
            </a:r>
            <a:r>
              <a:rPr lang="en-US" sz="1800">
                <a:solidFill>
                  <a:schemeClr val="dk1"/>
                </a:solidFill>
              </a:rPr>
              <a:t> insumos</a:t>
            </a:r>
            <a:r>
              <a:rPr b="0" i="0" lang="en-US" sz="1800" u="none" cap="none" strike="noStrike">
                <a:solidFill>
                  <a:schemeClr val="dk1"/>
                </a:solidFill>
                <a:latin typeface="Arial"/>
                <a:ea typeface="Arial"/>
                <a:cs typeface="Arial"/>
                <a:sym typeface="Arial"/>
              </a:rPr>
              <a:t>.</a:t>
            </a:r>
            <a:endParaRPr b="1" i="0" sz="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cxnSp>
        <p:nvCxnSpPr>
          <p:cNvPr id="196" name="Google Shape;196;p12"/>
          <p:cNvCxnSpPr/>
          <p:nvPr/>
        </p:nvCxnSpPr>
        <p:spPr>
          <a:xfrm>
            <a:off x="4972228" y="4092162"/>
            <a:ext cx="2247544" cy="0"/>
          </a:xfrm>
          <a:prstGeom prst="straightConnector1">
            <a:avLst/>
          </a:prstGeom>
          <a:noFill/>
          <a:ln cap="flat" cmpd="sng" w="12700">
            <a:solidFill>
              <a:schemeClr val="lt1"/>
            </a:solidFill>
            <a:prstDash val="solid"/>
            <a:miter lim="800000"/>
            <a:headEnd len="sm" w="sm" type="none"/>
            <a:tailEnd len="sm" w="sm" type="none"/>
          </a:ln>
        </p:spPr>
      </p:cxnSp>
      <p:sp>
        <p:nvSpPr>
          <p:cNvPr id="197" name="Google Shape;197;p12"/>
          <p:cNvSpPr txBox="1"/>
          <p:nvPr/>
        </p:nvSpPr>
        <p:spPr>
          <a:xfrm>
            <a:off x="1252125" y="3096373"/>
            <a:ext cx="9815809" cy="52787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5400"/>
              <a:buFont typeface="Comic Sans MS"/>
              <a:buNone/>
            </a:pPr>
            <a:r>
              <a:rPr b="1" i="0" lang="en-US" sz="5400" u="none" cap="none" strike="noStrike">
                <a:solidFill>
                  <a:schemeClr val="dk1"/>
                </a:solidFill>
                <a:latin typeface="Comic Sans MS"/>
                <a:ea typeface="Comic Sans MS"/>
                <a:cs typeface="Comic Sans MS"/>
                <a:sym typeface="Comic Sans MS"/>
              </a:rPr>
              <a:t>Diagrama Procesos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g3b0cc1124e2_0_0"/>
          <p:cNvPicPr preferRelativeResize="0"/>
          <p:nvPr/>
        </p:nvPicPr>
        <p:blipFill>
          <a:blip r:embed="rId3">
            <a:alphaModFix/>
          </a:blip>
          <a:stretch>
            <a:fillRect/>
          </a:stretch>
        </p:blipFill>
        <p:spPr>
          <a:xfrm>
            <a:off x="0" y="414744"/>
            <a:ext cx="12191999" cy="602850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7" name="Shape 207"/>
        <p:cNvGrpSpPr/>
        <p:nvPr/>
      </p:nvGrpSpPr>
      <p:grpSpPr>
        <a:xfrm>
          <a:off x="0" y="0"/>
          <a:ext cx="0" cy="0"/>
          <a:chOff x="0" y="0"/>
          <a:chExt cx="0" cy="0"/>
        </a:xfrm>
      </p:grpSpPr>
      <p:cxnSp>
        <p:nvCxnSpPr>
          <p:cNvPr id="208" name="Google Shape;208;g391c78eebce_0_4"/>
          <p:cNvCxnSpPr/>
          <p:nvPr/>
        </p:nvCxnSpPr>
        <p:spPr>
          <a:xfrm>
            <a:off x="4972228" y="4092162"/>
            <a:ext cx="2247600" cy="0"/>
          </a:xfrm>
          <a:prstGeom prst="straightConnector1">
            <a:avLst/>
          </a:prstGeom>
          <a:noFill/>
          <a:ln cap="flat" cmpd="sng" w="12700">
            <a:solidFill>
              <a:schemeClr val="lt1"/>
            </a:solidFill>
            <a:prstDash val="solid"/>
            <a:miter lim="800000"/>
            <a:headEnd len="sm" w="sm" type="none"/>
            <a:tailEnd len="sm" w="sm" type="none"/>
          </a:ln>
        </p:spPr>
      </p:cxnSp>
      <p:sp>
        <p:nvSpPr>
          <p:cNvPr id="209" name="Google Shape;209;g391c78eebce_0_4"/>
          <p:cNvSpPr txBox="1"/>
          <p:nvPr/>
        </p:nvSpPr>
        <p:spPr>
          <a:xfrm>
            <a:off x="1252125" y="3096373"/>
            <a:ext cx="9815700" cy="5280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5400"/>
              <a:buFont typeface="Comic Sans MS"/>
              <a:buNone/>
            </a:pPr>
            <a:r>
              <a:rPr b="1" i="0" lang="en-US" sz="5400" u="none" cap="none" strike="noStrike">
                <a:solidFill>
                  <a:schemeClr val="dk1"/>
                </a:solidFill>
                <a:latin typeface="Comic Sans MS"/>
                <a:ea typeface="Comic Sans MS"/>
                <a:cs typeface="Comic Sans MS"/>
                <a:sym typeface="Comic Sans MS"/>
              </a:rPr>
              <a:t>Recolección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g391c78eebce_0_9"/>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g391c78eebce_0_9"/>
          <p:cNvSpPr txBox="1"/>
          <p:nvPr/>
        </p:nvSpPr>
        <p:spPr>
          <a:xfrm>
            <a:off x="471550" y="189614"/>
            <a:ext cx="4368600" cy="19569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chemeClr val="dk1"/>
                </a:solidFill>
                <a:latin typeface="Comic Sans MS"/>
                <a:ea typeface="Comic Sans MS"/>
                <a:cs typeface="Comic Sans MS"/>
                <a:sym typeface="Comic Sans MS"/>
              </a:rPr>
              <a:t>Encuesta</a:t>
            </a:r>
            <a:endParaRPr b="1" i="0" sz="4800" u="none" cap="none" strike="noStrike">
              <a:solidFill>
                <a:schemeClr val="dk1"/>
              </a:solidFill>
              <a:latin typeface="Comic Sans MS"/>
              <a:ea typeface="Comic Sans MS"/>
              <a:cs typeface="Comic Sans MS"/>
              <a:sym typeface="Comic Sans MS"/>
            </a:endParaRPr>
          </a:p>
        </p:txBody>
      </p:sp>
      <p:sp>
        <p:nvSpPr>
          <p:cNvPr id="216" name="Google Shape;216;g391c78eebce_0_9"/>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 name="Google Shape;217;g391c78eebce_0_9"/>
          <p:cNvSpPr txBox="1"/>
          <p:nvPr/>
        </p:nvSpPr>
        <p:spPr>
          <a:xfrm>
            <a:off x="369917" y="2841726"/>
            <a:ext cx="4243500" cy="3320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900"/>
              <a:buFont typeface="Arial"/>
              <a:buNone/>
            </a:pPr>
            <a:r>
              <a:t/>
            </a:r>
            <a:endParaRPr b="0" i="0" sz="1900" u="none" cap="none" strike="noStrike">
              <a:solidFill>
                <a:schemeClr val="dk1"/>
              </a:solidFill>
              <a:latin typeface="Times New Roman"/>
              <a:ea typeface="Times New Roman"/>
              <a:cs typeface="Times New Roman"/>
              <a:sym typeface="Times New Roman"/>
            </a:endParaRPr>
          </a:p>
        </p:txBody>
      </p:sp>
      <p:pic>
        <p:nvPicPr>
          <p:cNvPr id="218" name="Google Shape;218;g391c78eebce_0_9"/>
          <p:cNvPicPr preferRelativeResize="0"/>
          <p:nvPr/>
        </p:nvPicPr>
        <p:blipFill rotWithShape="1">
          <a:blip r:embed="rId3">
            <a:alphaModFix/>
          </a:blip>
          <a:srcRect b="8506" l="0" r="0" t="31674"/>
          <a:stretch/>
        </p:blipFill>
        <p:spPr>
          <a:xfrm>
            <a:off x="5311702" y="10"/>
            <a:ext cx="6878775" cy="685800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219" name="Google Shape;219;g391c78eebce_0_9"/>
          <p:cNvSpPr/>
          <p:nvPr/>
        </p:nvSpPr>
        <p:spPr>
          <a:xfrm>
            <a:off x="369917" y="2837920"/>
            <a:ext cx="4803600" cy="397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Se realizaron dos encuestas en el spa: una dirigida a los trabajadores y otra a los clientes, con el fin de identificar y analizar las principales problemáticas presentes desde ambas perspectivas. Al analizar los resultados obtenidos de estas encuestas, nos podemos dar cuenta que la mayor parte de los clientes están de acuerdo con la necesidad de implementar este tipo de sistemas en el spa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cxnSp>
        <p:nvCxnSpPr>
          <p:cNvPr id="224" name="Google Shape;224;g391c78eebce_0_18"/>
          <p:cNvCxnSpPr/>
          <p:nvPr/>
        </p:nvCxnSpPr>
        <p:spPr>
          <a:xfrm>
            <a:off x="4972228" y="4092162"/>
            <a:ext cx="2247600" cy="0"/>
          </a:xfrm>
          <a:prstGeom prst="straightConnector1">
            <a:avLst/>
          </a:prstGeom>
          <a:noFill/>
          <a:ln cap="flat" cmpd="sng" w="12700">
            <a:solidFill>
              <a:schemeClr val="lt1"/>
            </a:solidFill>
            <a:prstDash val="solid"/>
            <a:miter lim="800000"/>
            <a:headEnd len="sm" w="sm" type="none"/>
            <a:tailEnd len="sm" w="sm" type="none"/>
          </a:ln>
        </p:spPr>
      </p:cxnSp>
      <p:sp>
        <p:nvSpPr>
          <p:cNvPr id="225" name="Google Shape;225;g391c78eebce_0_18"/>
          <p:cNvSpPr txBox="1"/>
          <p:nvPr/>
        </p:nvSpPr>
        <p:spPr>
          <a:xfrm>
            <a:off x="1252125" y="3096373"/>
            <a:ext cx="9815700" cy="5280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5400"/>
              <a:buFont typeface="Comic Sans MS"/>
              <a:buNone/>
            </a:pPr>
            <a:r>
              <a:rPr b="1" i="0" lang="en-US" sz="5400" u="none" cap="none" strike="noStrike">
                <a:solidFill>
                  <a:schemeClr val="dk1"/>
                </a:solidFill>
                <a:latin typeface="Comic Sans MS"/>
                <a:ea typeface="Comic Sans MS"/>
                <a:cs typeface="Comic Sans MS"/>
                <a:sym typeface="Comic Sans MS"/>
              </a:rPr>
              <a:t>Requerimientos</a:t>
            </a:r>
            <a:endParaRPr b="1" i="0" sz="5400" u="none" cap="none" strike="noStrike">
              <a:solidFill>
                <a:schemeClr val="dk1"/>
              </a:solidFill>
              <a:latin typeface="Comic Sans MS"/>
              <a:ea typeface="Comic Sans MS"/>
              <a:cs typeface="Comic Sans MS"/>
              <a:sym typeface="Comic Sans MS"/>
            </a:endParaRPr>
          </a:p>
          <a:p>
            <a:pPr indent="0" lvl="0" marL="0" marR="0" rtl="0" algn="l">
              <a:lnSpc>
                <a:spcPct val="90000"/>
              </a:lnSpc>
              <a:spcBef>
                <a:spcPts val="0"/>
              </a:spcBef>
              <a:spcAft>
                <a:spcPts val="0"/>
              </a:spcAft>
              <a:buClr>
                <a:schemeClr val="dk1"/>
              </a:buClr>
              <a:buSzPts val="5400"/>
              <a:buFont typeface="Comic Sans MS"/>
              <a:buNone/>
            </a:pPr>
            <a:r>
              <a:t/>
            </a:r>
            <a:endParaRPr b="1" i="0" sz="5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 name="Shape 229"/>
        <p:cNvGrpSpPr/>
        <p:nvPr/>
      </p:nvGrpSpPr>
      <p:grpSpPr>
        <a:xfrm>
          <a:off x="0" y="0"/>
          <a:ext cx="0" cy="0"/>
          <a:chOff x="0" y="0"/>
          <a:chExt cx="0" cy="0"/>
        </a:xfrm>
      </p:grpSpPr>
      <p:sp>
        <p:nvSpPr>
          <p:cNvPr id="230" name="Google Shape;230;p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1" name="Google Shape;231;p10"/>
          <p:cNvSpPr/>
          <p:nvPr/>
        </p:nvSpPr>
        <p:spPr>
          <a:xfrm flipH="1" rot="-2700000">
            <a:off x="-376156" y="-253670"/>
            <a:ext cx="1827638" cy="1376989"/>
          </a:xfrm>
          <a:custGeom>
            <a:rect b="b" l="l" r="r" t="t"/>
            <a:pathLst>
              <a:path extrusionOk="0" h="1376989" w="1827638">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2" name="Google Shape;232;p10"/>
          <p:cNvSpPr/>
          <p:nvPr/>
        </p:nvSpPr>
        <p:spPr>
          <a:xfrm flipH="1" rot="-2700000">
            <a:off x="891641" y="422146"/>
            <a:ext cx="645368" cy="64536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3" name="Google Shape;233;p10"/>
          <p:cNvSpPr/>
          <p:nvPr/>
        </p:nvSpPr>
        <p:spPr>
          <a:xfrm flipH="1" rot="-2700000">
            <a:off x="10043482" y="655140"/>
            <a:ext cx="687472" cy="687472"/>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4" name="Google Shape;234;p10"/>
          <p:cNvSpPr/>
          <p:nvPr/>
        </p:nvSpPr>
        <p:spPr>
          <a:xfrm flipH="1" rot="10800000">
            <a:off x="9356643" y="0"/>
            <a:ext cx="2835357" cy="1480837"/>
          </a:xfrm>
          <a:custGeom>
            <a:rect b="b" l="l" r="r" t="t"/>
            <a:pathLst>
              <a:path extrusionOk="0" h="1480837" w="2835357">
                <a:moveTo>
                  <a:pt x="2835357" y="1480837"/>
                </a:moveTo>
                <a:lnTo>
                  <a:pt x="0" y="1480837"/>
                </a:lnTo>
                <a:lnTo>
                  <a:pt x="1552727" y="0"/>
                </a:lnTo>
                <a:lnTo>
                  <a:pt x="2835357" y="1223245"/>
                </a:lnTo>
                <a:close/>
              </a:path>
            </a:pathLst>
          </a:cu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5" name="Google Shape;235;p10"/>
          <p:cNvSpPr/>
          <p:nvPr/>
        </p:nvSpPr>
        <p:spPr>
          <a:xfrm flipH="1">
            <a:off x="7976344" y="6115501"/>
            <a:ext cx="1494513" cy="742499"/>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alendario&#10;&#10;El contenido generado por IA puede ser incorrecto." id="236" name="Google Shape;236;p10"/>
          <p:cNvPicPr preferRelativeResize="0"/>
          <p:nvPr/>
        </p:nvPicPr>
        <p:blipFill rotWithShape="1">
          <a:blip r:embed="rId3">
            <a:alphaModFix/>
          </a:blip>
          <a:srcRect b="0" l="0" r="0" t="0"/>
          <a:stretch/>
        </p:blipFill>
        <p:spPr>
          <a:xfrm>
            <a:off x="643467" y="948097"/>
            <a:ext cx="10905066" cy="4961804"/>
          </a:xfrm>
          <a:prstGeom prst="rect">
            <a:avLst/>
          </a:prstGeom>
          <a:noFill/>
          <a:ln>
            <a:noFill/>
          </a:ln>
        </p:spPr>
      </p:pic>
      <p:sp>
        <p:nvSpPr>
          <p:cNvPr id="237" name="Google Shape;237;p10"/>
          <p:cNvSpPr/>
          <p:nvPr/>
        </p:nvSpPr>
        <p:spPr>
          <a:xfrm flipH="1">
            <a:off x="7604080" y="6453143"/>
            <a:ext cx="814903" cy="404857"/>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sp>
        <p:nvSpPr>
          <p:cNvPr id="242" name="Google Shape;242;p1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3" name="Google Shape;243;p11"/>
          <p:cNvSpPr/>
          <p:nvPr/>
        </p:nvSpPr>
        <p:spPr>
          <a:xfrm flipH="1" rot="-2700000">
            <a:off x="-376156" y="-253670"/>
            <a:ext cx="1827638" cy="1376989"/>
          </a:xfrm>
          <a:custGeom>
            <a:rect b="b" l="l" r="r" t="t"/>
            <a:pathLst>
              <a:path extrusionOk="0" h="1376989" w="1827638">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4" name="Google Shape;244;p11"/>
          <p:cNvSpPr/>
          <p:nvPr/>
        </p:nvSpPr>
        <p:spPr>
          <a:xfrm flipH="1" rot="-2700000">
            <a:off x="891641" y="422146"/>
            <a:ext cx="645368" cy="64536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11"/>
          <p:cNvSpPr/>
          <p:nvPr/>
        </p:nvSpPr>
        <p:spPr>
          <a:xfrm flipH="1" rot="-2700000">
            <a:off x="10043482" y="655140"/>
            <a:ext cx="687472" cy="687472"/>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6" name="Google Shape;246;p11"/>
          <p:cNvSpPr/>
          <p:nvPr/>
        </p:nvSpPr>
        <p:spPr>
          <a:xfrm flipH="1" rot="10800000">
            <a:off x="9356643" y="0"/>
            <a:ext cx="2835357" cy="1480837"/>
          </a:xfrm>
          <a:custGeom>
            <a:rect b="b" l="l" r="r" t="t"/>
            <a:pathLst>
              <a:path extrusionOk="0" h="1480837" w="2835357">
                <a:moveTo>
                  <a:pt x="2835357" y="1480837"/>
                </a:moveTo>
                <a:lnTo>
                  <a:pt x="0" y="1480837"/>
                </a:lnTo>
                <a:lnTo>
                  <a:pt x="1552727" y="0"/>
                </a:lnTo>
                <a:lnTo>
                  <a:pt x="2835357" y="1223245"/>
                </a:lnTo>
                <a:close/>
              </a:path>
            </a:pathLst>
          </a:cu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7" name="Google Shape;247;p11"/>
          <p:cNvSpPr/>
          <p:nvPr/>
        </p:nvSpPr>
        <p:spPr>
          <a:xfrm flipH="1">
            <a:off x="7976344" y="6115501"/>
            <a:ext cx="1494513" cy="742499"/>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abla&#10;&#10;El contenido generado por IA puede ser incorrecto." id="248" name="Google Shape;248;p11"/>
          <p:cNvPicPr preferRelativeResize="0"/>
          <p:nvPr/>
        </p:nvPicPr>
        <p:blipFill rotWithShape="1">
          <a:blip r:embed="rId3">
            <a:alphaModFix/>
          </a:blip>
          <a:srcRect b="0" l="0" r="0" t="0"/>
          <a:stretch/>
        </p:blipFill>
        <p:spPr>
          <a:xfrm>
            <a:off x="643467" y="920834"/>
            <a:ext cx="10905066" cy="5016331"/>
          </a:xfrm>
          <a:prstGeom prst="rect">
            <a:avLst/>
          </a:prstGeom>
          <a:noFill/>
          <a:ln>
            <a:noFill/>
          </a:ln>
        </p:spPr>
      </p:pic>
      <p:sp>
        <p:nvSpPr>
          <p:cNvPr id="249" name="Google Shape;249;p11"/>
          <p:cNvSpPr/>
          <p:nvPr/>
        </p:nvSpPr>
        <p:spPr>
          <a:xfrm flipH="1">
            <a:off x="7604080" y="6453143"/>
            <a:ext cx="814903" cy="404857"/>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3" name="Shape 25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